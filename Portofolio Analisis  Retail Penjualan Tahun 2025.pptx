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heme/themeOverride2.xml" ContentType="application/vnd.openxmlformats-officedocument.themeOverr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theme/themeOverride3.xml" ContentType="application/vnd.openxmlformats-officedocument.themeOverr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theme/themeOverride4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8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.xml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3.xml"/><Relationship Id="rId2" Type="http://schemas.microsoft.com/office/2011/relationships/chartColorStyle" Target="colors3.xml"/><Relationship Id="rId1" Type="http://schemas.microsoft.com/office/2011/relationships/chartStyle" Target="style3.xml"/><Relationship Id="rId4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4.xml"/><Relationship Id="rId2" Type="http://schemas.microsoft.com/office/2011/relationships/chartColorStyle" Target="colors4.xml"/><Relationship Id="rId1" Type="http://schemas.microsoft.com/office/2011/relationships/chartStyle" Target="style4.xml"/><Relationship Id="rId4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lrMapOvr bg1="lt1" tx1="dk1" bg2="lt2" tx2="dk2" accent1="accent1" accent2="accent2" accent3="accent3" accent4="accent4" accent5="accent5" accent6="accent6" hlink="hlink" folHlink="folHlink"/>
  <c:pivotSource>
    <c:name>[dataset_penjualan_retail_2025(terupdate).xlsx]Pivot_Analis!PivotTable15</c:name>
    <c:fmtId val="6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Pendapatan per bulan</a:t>
            </a:r>
          </a:p>
        </c:rich>
      </c:tx>
      <c:layout>
        <c:manualLayout>
          <c:xMode val="edge"/>
          <c:yMode val="edge"/>
          <c:x val="0.32161173009036925"/>
          <c:y val="3.601633129192184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</c:pivotFmt>
      <c:pivotFmt>
        <c:idx val="1"/>
      </c:pivotFmt>
      <c:pivotFmt>
        <c:idx val="2"/>
      </c:pivotFmt>
      <c:pivotFmt>
        <c:idx val="3"/>
      </c:pivotFmt>
      <c:pivotFmt>
        <c:idx val="4"/>
        <c:spPr>
          <a:gradFill>
            <a:gsLst>
              <a:gs pos="0">
                <a:schemeClr val="accent2">
                  <a:tint val="94000"/>
                  <a:lumMod val="102000"/>
                  <a:satMod val="103000"/>
                </a:schemeClr>
              </a:gs>
              <a:gs pos="50000">
                <a:schemeClr val="accent2">
                  <a:shade val="100000"/>
                  <a:lumMod val="100000"/>
                  <a:satMod val="110000"/>
                </a:schemeClr>
              </a:gs>
              <a:gs pos="100000">
                <a:schemeClr val="accent2">
                  <a:shade val="78000"/>
                  <a:lumMod val="99000"/>
                  <a:satMod val="120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>
              <a:srgbClr val="000000">
                <a:alpha val="63000"/>
              </a:srgbClr>
            </a:outerShdw>
          </a:effectLst>
        </c:spPr>
        <c:marker>
          <c:spPr>
            <a:gradFill>
              <a:gsLst>
                <a:gs pos="0">
                  <a:schemeClr val="accent2">
                    <a:tint val="94000"/>
                    <a:lumMod val="102000"/>
                    <a:satMod val="103000"/>
                  </a:schemeClr>
                </a:gs>
                <a:gs pos="50000">
                  <a:schemeClr val="accent2">
                    <a:shade val="100000"/>
                    <a:lumMod val="100000"/>
                    <a:satMod val="110000"/>
                  </a:schemeClr>
                </a:gs>
                <a:gs pos="100000">
                  <a:schemeClr val="accent2">
                    <a:shade val="78000"/>
                    <a:lumMod val="99000"/>
                    <a:satMod val="120000"/>
                  </a:schemeClr>
                </a:gs>
              </a:gsLst>
              <a:lin ang="5400000" scaled="0"/>
            </a:gradFill>
            <a:ln w="9525">
              <a:solidFill>
                <a:schemeClr val="accent2"/>
              </a:solidFill>
              <a:round/>
            </a:ln>
            <a:effectLst>
              <a:outerShdw blurRad="57150" dist="19050" dir="5400000">
                <a:srgbClr val="000000">
                  <a:alpha val="63000"/>
                </a:srgbClr>
              </a:outerShdw>
            </a:effectLst>
          </c:spPr>
        </c:marker>
        <c:dLbl>
          <c:idx val="0"/>
          <c:dLblPos val="ctr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gradFill>
            <a:gsLst>
              <a:gs pos="0">
                <a:schemeClr val="accent2">
                  <a:tint val="94000"/>
                  <a:lumMod val="102000"/>
                  <a:satMod val="103000"/>
                </a:schemeClr>
              </a:gs>
              <a:gs pos="50000">
                <a:schemeClr val="accent2">
                  <a:shade val="100000"/>
                  <a:lumMod val="100000"/>
                  <a:satMod val="110000"/>
                </a:schemeClr>
              </a:gs>
              <a:gs pos="100000">
                <a:schemeClr val="accent2">
                  <a:shade val="78000"/>
                  <a:lumMod val="99000"/>
                  <a:satMod val="120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>
              <a:srgbClr val="000000">
                <a:alpha val="63000"/>
              </a:srgbClr>
            </a:outerShdw>
          </a:effectLst>
        </c:spPr>
        <c:marker>
          <c:symbol val="circle"/>
          <c:size val="6"/>
          <c:spPr>
            <a:gradFill>
              <a:gsLst>
                <a:gs pos="0">
                  <a:schemeClr val="accent2">
                    <a:tint val="94000"/>
                    <a:lumMod val="102000"/>
                    <a:satMod val="103000"/>
                  </a:schemeClr>
                </a:gs>
                <a:gs pos="50000">
                  <a:schemeClr val="accent2">
                    <a:shade val="100000"/>
                    <a:lumMod val="100000"/>
                    <a:satMod val="110000"/>
                  </a:schemeClr>
                </a:gs>
                <a:gs pos="100000">
                  <a:schemeClr val="accent2">
                    <a:shade val="78000"/>
                    <a:lumMod val="99000"/>
                    <a:satMod val="120000"/>
                  </a:schemeClr>
                </a:gs>
              </a:gsLst>
              <a:lin ang="5400000" scaled="0"/>
            </a:gradFill>
            <a:ln w="9525">
              <a:solidFill>
                <a:schemeClr val="accent2"/>
              </a:solidFill>
              <a:round/>
            </a:ln>
            <a:effectLst>
              <a:outerShdw blurRad="57150" dist="19050" dir="5400000">
                <a:srgbClr val="000000">
                  <a:alpha val="63000"/>
                </a:srgbClr>
              </a:outerShdw>
            </a:effectLst>
          </c:spPr>
        </c:marker>
      </c:pivotFmt>
      <c:pivotFmt>
        <c:idx val="6"/>
        <c:spPr>
          <a:gradFill>
            <a:gsLst>
              <a:gs pos="0">
                <a:schemeClr val="accent2">
                  <a:tint val="94000"/>
                  <a:lumMod val="102000"/>
                  <a:satMod val="103000"/>
                </a:schemeClr>
              </a:gs>
              <a:gs pos="50000">
                <a:schemeClr val="accent2">
                  <a:shade val="100000"/>
                  <a:lumMod val="100000"/>
                  <a:satMod val="110000"/>
                </a:schemeClr>
              </a:gs>
              <a:gs pos="100000">
                <a:schemeClr val="accent2">
                  <a:shade val="78000"/>
                  <a:lumMod val="99000"/>
                  <a:satMod val="120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>
              <a:srgbClr val="000000">
                <a:alpha val="63000"/>
              </a:srgbClr>
            </a:outerShdw>
          </a:effectLst>
        </c:spPr>
        <c:marker>
          <c:symbol val="circle"/>
          <c:size val="6"/>
          <c:spPr>
            <a:gradFill>
              <a:gsLst>
                <a:gs pos="0">
                  <a:schemeClr val="accent2">
                    <a:tint val="94000"/>
                    <a:lumMod val="102000"/>
                    <a:satMod val="103000"/>
                  </a:schemeClr>
                </a:gs>
                <a:gs pos="50000">
                  <a:schemeClr val="accent2">
                    <a:shade val="100000"/>
                    <a:lumMod val="100000"/>
                    <a:satMod val="110000"/>
                  </a:schemeClr>
                </a:gs>
                <a:gs pos="100000">
                  <a:schemeClr val="accent2">
                    <a:shade val="78000"/>
                    <a:lumMod val="99000"/>
                    <a:satMod val="120000"/>
                  </a:schemeClr>
                </a:gs>
              </a:gsLst>
              <a:lin ang="5400000" scaled="0"/>
            </a:gradFill>
            <a:ln w="9525">
              <a:solidFill>
                <a:schemeClr val="accent2"/>
              </a:solidFill>
              <a:round/>
            </a:ln>
            <a:effectLst>
              <a:outerShdw blurRad="57150" dist="19050" dir="5400000">
                <a:srgbClr val="000000">
                  <a:alpha val="63000"/>
                </a:srgbClr>
              </a:outerShdw>
            </a:effectLst>
          </c:spPr>
        </c:marker>
      </c:pivotFmt>
      <c:pivotFmt>
        <c:idx val="7"/>
        <c:spPr>
          <a:gradFill>
            <a:gsLst>
              <a:gs pos="0">
                <a:schemeClr val="accent2">
                  <a:tint val="94000"/>
                  <a:lumMod val="102000"/>
                  <a:satMod val="103000"/>
                </a:schemeClr>
              </a:gs>
              <a:gs pos="50000">
                <a:schemeClr val="accent2">
                  <a:shade val="100000"/>
                  <a:lumMod val="100000"/>
                  <a:satMod val="110000"/>
                </a:schemeClr>
              </a:gs>
              <a:gs pos="100000">
                <a:schemeClr val="accent2">
                  <a:shade val="78000"/>
                  <a:lumMod val="99000"/>
                  <a:satMod val="120000"/>
                </a:schemeClr>
              </a:gs>
            </a:gsLst>
            <a:lin ang="5400000" scaled="0"/>
          </a:gradFill>
          <a:ln w="34925" cap="rnd">
            <a:solidFill>
              <a:schemeClr val="accent2"/>
            </a:solidFill>
            <a:round/>
          </a:ln>
          <a:effectLst>
            <a:outerShdw blurRad="57150" dist="19050" dir="5400000">
              <a:srgbClr val="000000">
                <a:alpha val="63000"/>
              </a:srgbClr>
            </a:outerShdw>
          </a:effectLst>
        </c:spPr>
        <c:marker>
          <c:symbol val="circle"/>
          <c:size val="6"/>
          <c:spPr>
            <a:gradFill>
              <a:gsLst>
                <a:gs pos="0">
                  <a:schemeClr val="accent2">
                    <a:tint val="94000"/>
                    <a:lumMod val="102000"/>
                    <a:satMod val="103000"/>
                  </a:schemeClr>
                </a:gs>
                <a:gs pos="50000">
                  <a:schemeClr val="accent2">
                    <a:shade val="100000"/>
                    <a:lumMod val="100000"/>
                    <a:satMod val="110000"/>
                  </a:schemeClr>
                </a:gs>
                <a:gs pos="100000">
                  <a:schemeClr val="accent2">
                    <a:shade val="78000"/>
                    <a:lumMod val="99000"/>
                    <a:satMod val="120000"/>
                  </a:schemeClr>
                </a:gs>
              </a:gsLst>
              <a:lin ang="5400000" scaled="0"/>
            </a:gradFill>
            <a:ln w="9525">
              <a:solidFill>
                <a:schemeClr val="accent2"/>
              </a:solidFill>
              <a:round/>
            </a:ln>
            <a:effectLst>
              <a:outerShdw blurRad="57150" dist="19050" dir="5400000">
                <a:srgbClr val="000000">
                  <a:alpha val="63000"/>
                </a:srgbClr>
              </a:outerShdw>
            </a:effectLst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gradFill>
            <a:gsLst>
              <a:gs pos="0">
                <a:schemeClr val="accent2">
                  <a:tint val="94000"/>
                  <a:lumMod val="102000"/>
                  <a:satMod val="103000"/>
                </a:schemeClr>
              </a:gs>
              <a:gs pos="50000">
                <a:schemeClr val="accent2">
                  <a:shade val="100000"/>
                  <a:lumMod val="100000"/>
                  <a:satMod val="110000"/>
                </a:schemeClr>
              </a:gs>
              <a:gs pos="100000">
                <a:schemeClr val="accent2">
                  <a:shade val="78000"/>
                  <a:lumMod val="99000"/>
                  <a:satMod val="120000"/>
                </a:schemeClr>
              </a:gs>
            </a:gsLst>
            <a:lin ang="5400000" scaled="0"/>
          </a:gradFill>
          <a:ln w="34925" cap="rnd">
            <a:solidFill>
              <a:schemeClr val="accent2"/>
            </a:solidFill>
            <a:round/>
          </a:ln>
          <a:effectLst>
            <a:outerShdw blurRad="57150" dist="19050" dir="5400000">
              <a:srgbClr val="000000">
                <a:alpha val="63000"/>
              </a:srgbClr>
            </a:outerShdw>
          </a:effectLst>
        </c:spPr>
        <c:marker>
          <c:symbol val="circle"/>
          <c:size val="6"/>
          <c:spPr>
            <a:gradFill>
              <a:gsLst>
                <a:gs pos="0">
                  <a:schemeClr val="accent2">
                    <a:tint val="94000"/>
                    <a:lumMod val="102000"/>
                    <a:satMod val="103000"/>
                  </a:schemeClr>
                </a:gs>
                <a:gs pos="50000">
                  <a:schemeClr val="accent2">
                    <a:shade val="100000"/>
                    <a:lumMod val="100000"/>
                    <a:satMod val="110000"/>
                  </a:schemeClr>
                </a:gs>
                <a:gs pos="100000">
                  <a:schemeClr val="accent2">
                    <a:shade val="78000"/>
                    <a:lumMod val="99000"/>
                    <a:satMod val="120000"/>
                  </a:schemeClr>
                </a:gs>
              </a:gsLst>
              <a:lin ang="5400000" scaled="0"/>
            </a:gradFill>
            <a:ln w="9525">
              <a:solidFill>
                <a:schemeClr val="accent2"/>
              </a:solidFill>
              <a:round/>
            </a:ln>
            <a:effectLst>
              <a:outerShdw blurRad="57150" dist="19050" dir="5400000">
                <a:srgbClr val="000000">
                  <a:alpha val="63000"/>
                </a:srgbClr>
              </a:outerShdw>
            </a:effectLst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gradFill>
            <a:gsLst>
              <a:gs pos="0">
                <a:schemeClr val="accent2">
                  <a:tint val="94000"/>
                  <a:lumMod val="102000"/>
                  <a:satMod val="103000"/>
                </a:schemeClr>
              </a:gs>
              <a:gs pos="50000">
                <a:schemeClr val="accent2">
                  <a:shade val="100000"/>
                  <a:lumMod val="100000"/>
                  <a:satMod val="110000"/>
                </a:schemeClr>
              </a:gs>
              <a:gs pos="100000">
                <a:schemeClr val="accent2">
                  <a:shade val="78000"/>
                  <a:lumMod val="99000"/>
                  <a:satMod val="120000"/>
                </a:schemeClr>
              </a:gs>
            </a:gsLst>
            <a:lin ang="5400000" scaled="0"/>
          </a:gradFill>
          <a:ln w="34925" cap="rnd">
            <a:solidFill>
              <a:schemeClr val="accent2"/>
            </a:solidFill>
            <a:round/>
          </a:ln>
          <a:effectLst>
            <a:outerShdw blurRad="57150" dist="19050" dir="5400000">
              <a:srgbClr val="000000">
                <a:alpha val="63000"/>
              </a:srgbClr>
            </a:outerShdw>
          </a:effectLst>
        </c:spPr>
        <c:marker>
          <c:symbol val="circle"/>
          <c:size val="6"/>
          <c:spPr>
            <a:gradFill>
              <a:gsLst>
                <a:gs pos="0">
                  <a:schemeClr val="accent2">
                    <a:tint val="94000"/>
                    <a:lumMod val="102000"/>
                    <a:satMod val="103000"/>
                  </a:schemeClr>
                </a:gs>
                <a:gs pos="50000">
                  <a:schemeClr val="accent2">
                    <a:shade val="100000"/>
                    <a:lumMod val="100000"/>
                    <a:satMod val="110000"/>
                  </a:schemeClr>
                </a:gs>
                <a:gs pos="100000">
                  <a:schemeClr val="accent2">
                    <a:shade val="78000"/>
                    <a:lumMod val="99000"/>
                    <a:satMod val="120000"/>
                  </a:schemeClr>
                </a:gs>
              </a:gsLst>
              <a:lin ang="5400000" scaled="0"/>
            </a:gradFill>
            <a:ln w="9525">
              <a:solidFill>
                <a:schemeClr val="accent2"/>
              </a:solidFill>
              <a:round/>
            </a:ln>
            <a:effectLst>
              <a:outerShdw blurRad="57150" dist="19050" dir="5400000">
                <a:srgbClr val="000000">
                  <a:alpha val="63000"/>
                </a:srgbClr>
              </a:outerShdw>
            </a:effectLst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0.17521991102314713"/>
          <c:y val="0.16912037037037039"/>
          <c:w val="0.79726289614810508"/>
          <c:h val="0.70959135316418775"/>
        </c:manualLayout>
      </c:layout>
      <c:lineChart>
        <c:grouping val="standard"/>
        <c:varyColors val="0"/>
        <c:ser>
          <c:idx val="0"/>
          <c:order val="0"/>
          <c:tx>
            <c:strRef>
              <c:f>Pivot_Analis!$B$30</c:f>
              <c:strCache>
                <c:ptCount val="1"/>
                <c:pt idx="0">
                  <c:v>Total</c:v>
                </c:pt>
              </c:strCache>
            </c:strRef>
          </c:tx>
          <c:spPr>
            <a:ln w="34925" cap="rnd">
              <a:solidFill>
                <a:schemeClr val="accent2"/>
              </a:solidFill>
              <a:round/>
            </a:ln>
            <a:effectLst>
              <a:outerShdw blurRad="57150" dist="19050" dir="5400000">
                <a:srgbClr val="000000">
                  <a:alpha val="63000"/>
                </a:srgbClr>
              </a:outerShdw>
            </a:effectLst>
          </c:spPr>
          <c:marker>
            <c:symbol val="circle"/>
            <c:size val="6"/>
            <c:spPr>
              <a:gradFill>
                <a:gsLst>
                  <a:gs pos="0">
                    <a:schemeClr val="accent2">
                      <a:tint val="94000"/>
                      <a:lumMod val="102000"/>
                      <a:satMod val="103000"/>
                    </a:schemeClr>
                  </a:gs>
                  <a:gs pos="50000">
                    <a:schemeClr val="accent2">
                      <a:shade val="100000"/>
                      <a:lumMod val="100000"/>
                      <a:satMod val="110000"/>
                    </a:schemeClr>
                  </a:gs>
                  <a:gs pos="100000">
                    <a:schemeClr val="accent2">
                      <a:shade val="78000"/>
                      <a:lumMod val="99000"/>
                      <a:satMod val="120000"/>
                    </a:schemeClr>
                  </a:gs>
                </a:gsLst>
                <a:lin ang="5400000" scaled="0"/>
              </a:gradFill>
              <a:ln w="9525">
                <a:solidFill>
                  <a:schemeClr val="accent2"/>
                </a:solidFill>
                <a:round/>
              </a:ln>
              <a:effectLst>
                <a:outerShdw blurRad="57150" dist="19050" dir="5400000">
                  <a:srgbClr val="000000">
                    <a:alpha val="63000"/>
                  </a:srgbClr>
                </a:outerShdw>
              </a:effectLst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Pivot_Analis!$A$31:$A$37</c:f>
              <c:strCache>
                <c:ptCount val="6"/>
                <c:pt idx="0">
                  <c:v>Mar</c:v>
                </c:pt>
                <c:pt idx="1">
                  <c:v>Apr</c:v>
                </c:pt>
                <c:pt idx="2">
                  <c:v>May</c:v>
                </c:pt>
                <c:pt idx="3">
                  <c:v>Jul</c:v>
                </c:pt>
                <c:pt idx="4">
                  <c:v>Aug</c:v>
                </c:pt>
                <c:pt idx="5">
                  <c:v>Oct</c:v>
                </c:pt>
              </c:strCache>
            </c:strRef>
          </c:cat>
          <c:val>
            <c:numRef>
              <c:f>Pivot_Analis!$B$31:$B$37</c:f>
              <c:numCache>
                <c:formatCode>"Rp"#,##0;[Red]"Rp"#,##0</c:formatCode>
                <c:ptCount val="6"/>
                <c:pt idx="0">
                  <c:v>302000</c:v>
                </c:pt>
                <c:pt idx="1">
                  <c:v>214000</c:v>
                </c:pt>
                <c:pt idx="2">
                  <c:v>251000</c:v>
                </c:pt>
                <c:pt idx="3">
                  <c:v>72000</c:v>
                </c:pt>
                <c:pt idx="4">
                  <c:v>233000</c:v>
                </c:pt>
                <c:pt idx="5">
                  <c:v>144000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128-4F79-A9F8-FE1DB2E516FA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737118640"/>
        <c:axId val="1737104080"/>
      </c:lineChart>
      <c:catAx>
        <c:axId val="173711864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37104080"/>
        <c:crosses val="autoZero"/>
        <c:auto val="1"/>
        <c:lblAlgn val="ctr"/>
        <c:lblOffset val="100"/>
        <c:noMultiLvlLbl val="0"/>
      </c:catAx>
      <c:valAx>
        <c:axId val="173710408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&quot;Rp&quot;#,##0;[Red]&quot;Rp&quot;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3711864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rgbClr val="92D050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pivotSource>
    <c:name>[dataset_penjualan_retail_2025(terupdate).xlsx]Pivot_Analis!PivotTable14</c:name>
    <c:fmtId val="10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b="1">
                <a:solidFill>
                  <a:schemeClr val="tx1"/>
                </a:solidFill>
              </a:rPr>
              <a:t>Pendapatan</a:t>
            </a:r>
            <a:r>
              <a:rPr lang="en-US" b="1" baseline="0">
                <a:solidFill>
                  <a:schemeClr val="tx1"/>
                </a:solidFill>
              </a:rPr>
              <a:t> tertinggi per kategori</a:t>
            </a:r>
            <a:endParaRPr lang="en-US" b="1">
              <a:solidFill>
                <a:schemeClr val="tx1"/>
              </a:solidFill>
            </a:endParaRPr>
          </a:p>
        </c:rich>
      </c:tx>
      <c:layout>
        <c:manualLayout>
          <c:xMode val="edge"/>
          <c:yMode val="edge"/>
          <c:x val="0.41270977947624088"/>
          <c:y val="5.9720288692862868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</c:pivotFmt>
      <c:pivotFmt>
        <c:idx val="1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</c:pivotFmt>
      <c:pivotFmt>
        <c:idx val="2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</c:pivotFmt>
      <c:pivotFmt>
        <c:idx val="3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</c:pivotFmt>
      <c:pivotFmt>
        <c:idx val="4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</c:pivotFmt>
      <c:pivotFmt>
        <c:idx val="5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</c:pivotFmt>
      <c:pivotFmt>
        <c:idx val="6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0.17657885595182954"/>
          <c:y val="0.17634259259259263"/>
          <c:w val="0.80136232051875866"/>
          <c:h val="0.5754724409448819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Pivot_Analis!$B$11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Pivot_Analis!$A$12:$A$17</c:f>
              <c:strCache>
                <c:ptCount val="5"/>
                <c:pt idx="0">
                  <c:v>Headset</c:v>
                </c:pt>
                <c:pt idx="1">
                  <c:v>Keyboard</c:v>
                </c:pt>
                <c:pt idx="2">
                  <c:v>Laptop Stand</c:v>
                </c:pt>
                <c:pt idx="3">
                  <c:v>Monitor</c:v>
                </c:pt>
                <c:pt idx="4">
                  <c:v>Mouse</c:v>
                </c:pt>
              </c:strCache>
            </c:strRef>
          </c:cat>
          <c:val>
            <c:numRef>
              <c:f>Pivot_Analis!$B$12:$B$17</c:f>
              <c:numCache>
                <c:formatCode>"Rp"#,##0;[Red]"Rp"#,##0</c:formatCode>
                <c:ptCount val="5"/>
                <c:pt idx="0">
                  <c:v>22950000</c:v>
                </c:pt>
                <c:pt idx="1">
                  <c:v>12950000</c:v>
                </c:pt>
                <c:pt idx="2">
                  <c:v>13000000</c:v>
                </c:pt>
                <c:pt idx="3">
                  <c:v>119700000</c:v>
                </c:pt>
                <c:pt idx="4">
                  <c:v>7700000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D3A-4AAC-8510-4A84862720ED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852031104"/>
        <c:axId val="1852031936"/>
      </c:barChart>
      <c:catAx>
        <c:axId val="18520311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52031936"/>
        <c:crosses val="autoZero"/>
        <c:auto val="1"/>
        <c:lblAlgn val="ctr"/>
        <c:lblOffset val="100"/>
        <c:noMultiLvlLbl val="0"/>
      </c:catAx>
      <c:valAx>
        <c:axId val="185203193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&quot;Rp&quot;#,##0;[Red]&quot;Rp&quot;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5203110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rgbClr val="92D050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pivotSource>
    <c:name>[dataset_penjualan_retail_2025(terupdate).xlsx]Pivot_Analis!PivotTable2</c:name>
    <c:fmtId val="9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cap="none" spc="0" normalizeH="0" baseline="0">
                <a:solidFill>
                  <a:sysClr val="windowText" lastClr="000000"/>
                </a:solidFill>
                <a:latin typeface="+mj-lt"/>
                <a:ea typeface="+mj-ea"/>
                <a:cs typeface="+mj-cs"/>
              </a:defRPr>
            </a:pPr>
            <a:r>
              <a:rPr lang="en-US" b="1">
                <a:solidFill>
                  <a:sysClr val="windowText" lastClr="000000"/>
                </a:solidFill>
              </a:rPr>
              <a:t>Pendapatan per segmen pelanggan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cap="none" spc="0" normalizeH="0" baseline="0">
              <a:solidFill>
                <a:sysClr val="windowText" lastClr="000000"/>
              </a:solidFill>
              <a:latin typeface="+mj-lt"/>
              <a:ea typeface="+mj-ea"/>
              <a:cs typeface="+mj-cs"/>
            </a:defRPr>
          </a:pPr>
          <a:endParaRPr lang="en-US"/>
        </a:p>
      </c:txPr>
    </c:title>
    <c:autoTitleDeleted val="0"/>
    <c:pivotFmts>
      <c:pivotFmt>
        <c:idx val="0"/>
      </c:pivotFmt>
      <c:pivotFmt>
        <c:idx val="1"/>
      </c:pivotFmt>
      <c:pivotFmt>
        <c:idx val="2"/>
      </c:pivotFmt>
      <c:pivotFmt>
        <c:idx val="3"/>
      </c:pivotFmt>
      <c:pivotFmt>
        <c:idx val="4"/>
        <c:dLbl>
          <c:idx val="0"/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Pivot_Analis!$B$82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dk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Pivot_Analis!$A$83:$A$84</c:f>
              <c:strCache>
                <c:ptCount val="1"/>
                <c:pt idx="0">
                  <c:v>Retail</c:v>
                </c:pt>
              </c:strCache>
            </c:strRef>
          </c:cat>
          <c:val>
            <c:numRef>
              <c:f>Pivot_Analis!$B$83:$B$84</c:f>
              <c:numCache>
                <c:formatCode>General</c:formatCode>
                <c:ptCount val="1"/>
                <c:pt idx="0">
                  <c:v>126425000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562-487B-806F-30CA618402C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67"/>
        <c:overlap val="-43"/>
        <c:axId val="720784799"/>
        <c:axId val="720777311"/>
      </c:barChart>
      <c:catAx>
        <c:axId val="720784799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dk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cap="none" spc="0" normalizeH="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20777311"/>
        <c:crosses val="autoZero"/>
        <c:auto val="1"/>
        <c:lblAlgn val="ctr"/>
        <c:lblOffset val="100"/>
        <c:noMultiLvlLbl val="0"/>
      </c:catAx>
      <c:valAx>
        <c:axId val="72077731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dk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20784799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sz="800"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dTable>
      <c:spPr>
        <a:solidFill>
          <a:srgbClr val="92D050"/>
        </a:solidFill>
        <a:ln>
          <a:noFill/>
        </a:ln>
        <a:effectLst/>
      </c:spPr>
    </c:plotArea>
    <c:plotVisOnly val="1"/>
    <c:dispBlanksAs val="gap"/>
    <c:showDLblsOverMax val="0"/>
  </c:chart>
  <c:spPr>
    <a:solidFill>
      <a:srgbClr val="92D050"/>
    </a:solid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pivotSource>
    <c:name>[dataset_penjualan_retail_2025(terupdate).xlsx]Pivot_Analis!PivotTable1</c:name>
    <c:fmtId val="12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cap="all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>
                <a:solidFill>
                  <a:schemeClr val="tx1"/>
                </a:solidFill>
              </a:rPr>
              <a:t>Metode pembayaran ter tinggi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cap="all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</c:pivotFmt>
      <c:pivotFmt>
        <c:idx val="1"/>
        <c:dLbl>
          <c:idx val="0"/>
          <c:dLblPos val="bestFit"/>
          <c:showLegendKey val="1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dLbl>
          <c:idx val="0"/>
          <c:dLblPos val="bestFit"/>
          <c:showLegendKey val="1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</c:pivotFmt>
      <c:pivotFmt>
        <c:idx val="4"/>
      </c:pivotFmt>
      <c:pivotFmt>
        <c:idx val="5"/>
      </c:pivotFmt>
      <c:pivotFmt>
        <c:idx val="6"/>
      </c:pivotFmt>
      <c:pivotFmt>
        <c:idx val="7"/>
        <c:dLbl>
          <c:idx val="0"/>
          <c:dLblPos val="bestFit"/>
          <c:showLegendKey val="1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</c:pivotFmt>
      <c:pivotFmt>
        <c:idx val="9"/>
      </c:pivotFmt>
      <c:pivotFmt>
        <c:idx val="10"/>
      </c:pivotFmt>
      <c:pivotFmt>
        <c:idx val="11"/>
      </c:pivotFmt>
      <c:pivotFmt>
        <c:idx val="12"/>
        <c:dLbl>
          <c:idx val="0"/>
          <c:dLblPos val="outEnd"/>
          <c:showLegendKey val="1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dLbl>
          <c:idx val="0"/>
          <c:dLblPos val="outEnd"/>
          <c:showLegendKey val="1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dLbl>
          <c:idx val="0"/>
          <c:dLblPos val="outEnd"/>
          <c:showLegendKey val="1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</c:pivotFmt>
      <c:pivotFmt>
        <c:idx val="16"/>
      </c:pivotFmt>
      <c:pivotFmt>
        <c:idx val="17"/>
      </c:pivotFmt>
      <c:pivotFmt>
        <c:idx val="18"/>
      </c:pivotFmt>
      <c:pivotFmt>
        <c:idx val="19"/>
      </c:pivotFmt>
      <c:pivotFmt>
        <c:idx val="20"/>
      </c:pivotFmt>
      <c:pivotFmt>
        <c:idx val="21"/>
      </c:pivotFmt>
      <c:pivotFmt>
        <c:idx val="22"/>
      </c:pivotFmt>
      <c:pivotFmt>
        <c:idx val="23"/>
      </c:pivotFmt>
      <c:pivotFmt>
        <c:idx val="24"/>
        <c:dLbl>
          <c:idx val="0"/>
          <c:dLblPos val="outEnd"/>
          <c:showLegendKey val="0"/>
          <c:showVal val="1"/>
          <c:showCatName val="1"/>
          <c:showSerName val="1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5"/>
      </c:pivotFmt>
      <c:pivotFmt>
        <c:idx val="26"/>
      </c:pivotFmt>
      <c:pivotFmt>
        <c:idx val="27"/>
      </c:pivotFmt>
      <c:pivotFmt>
        <c:idx val="28"/>
      </c:pivotFmt>
      <c:pivotFmt>
        <c:idx val="29"/>
        <c:spPr>
          <a:solidFill>
            <a:schemeClr val="accent1"/>
          </a:solidFill>
          <a:ln>
            <a:noFill/>
          </a:ln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c:spPr>
        <c:marker>
          <c:spPr>
            <a:solidFill>
              <a:schemeClr val="accent1"/>
            </a:solidFill>
            <a:ln w="9525">
              <a:solidFill>
                <a:schemeClr val="lt1"/>
              </a:solidFill>
            </a:ln>
            <a:effectLst/>
          </c:spPr>
        </c:marker>
        <c:dLbl>
          <c:idx val="0"/>
          <c:dLblPos val="outEnd"/>
          <c:showLegendKey val="0"/>
          <c:showVal val="1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0"/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spc="0" baseline="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1"/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spc="0" baseline="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2"/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spc="0" baseline="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3"/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spc="0" baseline="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4"/>
        <c:spPr>
          <a:solidFill>
            <a:schemeClr val="accent1"/>
          </a:solidFill>
          <a:ln>
            <a:noFill/>
          </a:ln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c:spP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spc="0" baseline="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5"/>
        <c:spPr>
          <a:solidFill>
            <a:schemeClr val="accent2"/>
          </a:solidFill>
          <a:ln>
            <a:noFill/>
          </a:ln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c:spP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spc="0" baseline="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6"/>
        <c:spPr>
          <a:solidFill>
            <a:schemeClr val="accent3"/>
          </a:solidFill>
          <a:ln>
            <a:noFill/>
          </a:ln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c:spP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spc="0" baseline="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7"/>
        <c:spPr>
          <a:solidFill>
            <a:schemeClr val="accent4"/>
          </a:solidFill>
          <a:ln>
            <a:noFill/>
          </a:ln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c:spP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spc="0" baseline="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8"/>
        <c:spPr>
          <a:solidFill>
            <a:schemeClr val="accent1"/>
          </a:solidFill>
          <a:ln>
            <a:noFill/>
          </a:ln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spc="0" baseline="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9"/>
        <c:spPr>
          <a:solidFill>
            <a:schemeClr val="accent1"/>
          </a:solidFill>
          <a:ln>
            <a:noFill/>
          </a:ln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c:spP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spc="0" baseline="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xForSave val="1"/>
            </c:ext>
          </c:extLst>
        </c:dLbl>
      </c:pivotFmt>
      <c:pivotFmt>
        <c:idx val="40"/>
        <c:spPr>
          <a:solidFill>
            <a:schemeClr val="accent1"/>
          </a:solidFill>
          <a:ln>
            <a:noFill/>
          </a:ln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c:spP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spc="0" baseline="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xForSave val="1"/>
            </c:ext>
          </c:extLst>
        </c:dLbl>
      </c:pivotFmt>
      <c:pivotFmt>
        <c:idx val="41"/>
        <c:spPr>
          <a:solidFill>
            <a:schemeClr val="accent1"/>
          </a:solidFill>
          <a:ln>
            <a:noFill/>
          </a:ln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c:spP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spc="0" baseline="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xForSave val="1"/>
            </c:ext>
          </c:extLst>
        </c:dLbl>
      </c:pivotFmt>
      <c:pivotFmt>
        <c:idx val="42"/>
        <c:spPr>
          <a:solidFill>
            <a:schemeClr val="accent1"/>
          </a:solidFill>
          <a:ln>
            <a:noFill/>
          </a:ln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c:spP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spc="0" baseline="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xForSave val="1"/>
            </c:ext>
          </c:extLst>
        </c:dLbl>
      </c:pivotFmt>
      <c:pivotFmt>
        <c:idx val="43"/>
        <c:spPr>
          <a:solidFill>
            <a:schemeClr val="accent1"/>
          </a:solidFill>
          <a:ln>
            <a:noFill/>
          </a:ln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spc="0" baseline="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4"/>
        <c:spPr>
          <a:solidFill>
            <a:schemeClr val="accent1"/>
          </a:solidFill>
          <a:ln>
            <a:noFill/>
          </a:ln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c:spP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spc="0" baseline="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5"/>
        <c:spPr>
          <a:solidFill>
            <a:schemeClr val="accent1"/>
          </a:solidFill>
          <a:ln>
            <a:noFill/>
          </a:ln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c:spP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spc="0" baseline="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6"/>
        <c:spPr>
          <a:solidFill>
            <a:schemeClr val="accent1"/>
          </a:solidFill>
          <a:ln>
            <a:noFill/>
          </a:ln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c:spP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spc="0" baseline="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7"/>
        <c:spPr>
          <a:solidFill>
            <a:schemeClr val="accent1"/>
          </a:solidFill>
          <a:ln>
            <a:noFill/>
          </a:ln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c:spP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spc="0" baseline="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pieChart>
        <c:varyColors val="1"/>
        <c:ser>
          <c:idx val="0"/>
          <c:order val="0"/>
          <c:tx>
            <c:strRef>
              <c:f>Pivot_Analis!$B$65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D580-495A-B3AA-7D0C349ED65E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D580-495A-B3AA-7D0C349ED65E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D580-495A-B3AA-7D0C349ED65E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7-D580-495A-B3AA-7D0C349ED65E}"/>
              </c:ext>
            </c:extLst>
          </c:dP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spc="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1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1-D580-495A-B3AA-7D0C349ED65E}"/>
                </c:ext>
              </c:extLst>
            </c:dLbl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spc="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1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3-D580-495A-B3AA-7D0C349ED65E}"/>
                </c:ext>
              </c:extLst>
            </c:dLbl>
            <c:dLbl>
              <c:idx val="2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spc="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1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5-D580-495A-B3AA-7D0C349ED65E}"/>
                </c:ext>
              </c:extLst>
            </c:dLbl>
            <c:dLbl>
              <c:idx val="3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spc="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1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7-D580-495A-B3AA-7D0C349ED65E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spc="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1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Pivot_Analis!$A$66:$A$70</c:f>
              <c:strCache>
                <c:ptCount val="4"/>
                <c:pt idx="0">
                  <c:v>E-Wallet</c:v>
                </c:pt>
                <c:pt idx="1">
                  <c:v>Kartu Debit</c:v>
                </c:pt>
                <c:pt idx="2">
                  <c:v>Transfer Bank</c:v>
                </c:pt>
                <c:pt idx="3">
                  <c:v>Tunai</c:v>
                </c:pt>
              </c:strCache>
            </c:strRef>
          </c:cat>
          <c:val>
            <c:numRef>
              <c:f>Pivot_Analis!$B$66:$B$70</c:f>
              <c:numCache>
                <c:formatCode>General</c:formatCode>
                <c:ptCount val="4"/>
                <c:pt idx="0">
                  <c:v>16</c:v>
                </c:pt>
                <c:pt idx="1">
                  <c:v>9</c:v>
                </c:pt>
                <c:pt idx="2">
                  <c:v>21</c:v>
                </c:pt>
                <c:pt idx="3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D580-495A-B3AA-7D0C349ED65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ysClr val="windowText" lastClr="000000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rgbClr val="92D050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2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4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8">
  <cs:axisTitle>
    <cs:lnRef idx="0"/>
    <cs:fillRef idx="0"/>
    <cs:effectRef idx="0"/>
    <cs:fontRef idx="minor">
      <a:schemeClr val="dk1">
        <a:lumMod val="65000"/>
        <a:lumOff val="3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 cap="none" spc="0" normalizeH="0" baseline="0"/>
  </cs:categoryAxis>
  <cs:chartArea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lt1"/>
      </a:solidFill>
      <a:ln w="1587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8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plotArea>
  <cs:plotArea3D>
    <cs:lnRef idx="0"/>
    <cs:fillRef idx="0"/>
    <cs:effectRef idx="0"/>
    <cs:fontRef idx="minor">
      <a:schemeClr val="dk1"/>
    </cs:fontRef>
    <cs:spPr>
      <a:solidFill>
        <a:schemeClr val="lt1"/>
      </a:solidFill>
    </cs:spPr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ajor">
      <a:schemeClr val="dk1">
        <a:lumMod val="50000"/>
        <a:lumOff val="50000"/>
      </a:schemeClr>
    </cs:fontRef>
    <cs:defRPr sz="1600" b="1" kern="1200" cap="none" spc="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5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cs:styleClr val="auto"/>
    </cs:fontRef>
    <cs:defRPr sz="1000" b="1" i="0" u="none" strike="noStrike" kern="1200" spc="0" baseline="0"/>
  </cs:dataLabel>
  <cs:dataLabelCallout>
    <cs:lnRef idx="0">
      <cs:styleClr val="auto"/>
    </cs:lnRef>
    <cs:fillRef idx="0"/>
    <cs:effectRef idx="0"/>
    <cs:fontRef idx="minor">
      <cs:styleClr val="auto"/>
    </cs:fontRef>
    <cs:spPr>
      <a:solidFill>
        <a:schemeClr val="lt1"/>
      </a:solidFill>
      <a:ln>
        <a:solidFill>
          <a:schemeClr val="phClr"/>
        </a:solidFill>
      </a:ln>
    </cs:spPr>
    <cs:defRPr sz="10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635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88900" sx="102000" sy="102000" algn="ctr" rotWithShape="0">
          <a:prstClr val="black">
            <a:alpha val="10000"/>
          </a:prstClr>
        </a:outerShdw>
      </a:effectLst>
      <a:scene3d>
        <a:camera prst="orthographicFront"/>
        <a:lightRig rig="threePt" dir="t"/>
      </a:scene3d>
      <a:sp3d>
        <a:bevelT w="127000" h="127000"/>
        <a:bevelB w="127000" h="127000"/>
      </a:sp3d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cap="all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88825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6675" y="2404534"/>
            <a:ext cx="7764913" cy="1646302"/>
          </a:xfrm>
        </p:spPr>
        <p:txBody>
          <a:bodyPr anchor="b">
            <a:noAutofit/>
          </a:bodyPr>
          <a:lstStyle>
            <a:lvl1pPr algn="r">
              <a:defRPr sz="5398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6675" y="4050834"/>
            <a:ext cx="7764913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0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1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25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3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4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5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78489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599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25966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159" y="2700868"/>
            <a:ext cx="8594429" cy="1826581"/>
          </a:xfrm>
        </p:spPr>
        <p:txBody>
          <a:bodyPr anchor="b"/>
          <a:lstStyle>
            <a:lvl1pPr algn="l">
              <a:defRPr sz="3999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159" y="4527448"/>
            <a:ext cx="8594429" cy="860400"/>
          </a:xfrm>
        </p:spPr>
        <p:txBody>
          <a:bodyPr anchor="t"/>
          <a:lstStyle>
            <a:lvl1pPr marL="0" indent="0" algn="l">
              <a:buNone/>
              <a:defRPr sz="1999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7754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158" y="2160589"/>
            <a:ext cx="4182945" cy="388077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8645" y="2160590"/>
            <a:ext cx="4182944" cy="388077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33090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570" y="2160983"/>
            <a:ext cx="4184533" cy="576262"/>
          </a:xfrm>
        </p:spPr>
        <p:txBody>
          <a:bodyPr anchor="b">
            <a:noAutofit/>
          </a:bodyPr>
          <a:lstStyle>
            <a:lvl1pPr marL="0" indent="0">
              <a:buNone/>
              <a:defRPr sz="2399" b="0"/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570" y="2737246"/>
            <a:ext cx="418453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7058" y="2160983"/>
            <a:ext cx="4184528" cy="576262"/>
          </a:xfrm>
        </p:spPr>
        <p:txBody>
          <a:bodyPr anchor="b">
            <a:noAutofit/>
          </a:bodyPr>
          <a:lstStyle>
            <a:lvl1pPr marL="0" indent="0">
              <a:buNone/>
              <a:defRPr sz="2399" b="0"/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7059" y="2737246"/>
            <a:ext cx="418452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28553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158" y="609600"/>
            <a:ext cx="8594429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43866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31437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158" y="1498604"/>
            <a:ext cx="3853524" cy="1278466"/>
          </a:xfrm>
        </p:spPr>
        <p:txBody>
          <a:bodyPr anchor="b">
            <a:normAutofit/>
          </a:bodyPr>
          <a:lstStyle>
            <a:lvl1pPr>
              <a:defRPr sz="1999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59222" y="514925"/>
            <a:ext cx="4512366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158" y="2777069"/>
            <a:ext cx="3853524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6926" indent="0">
              <a:buNone/>
              <a:defRPr sz="1400"/>
            </a:lvl2pPr>
            <a:lvl3pPr marL="913852" indent="0">
              <a:buNone/>
              <a:defRPr sz="1200"/>
            </a:lvl3pPr>
            <a:lvl4pPr marL="1370778" indent="0">
              <a:buNone/>
              <a:defRPr sz="1000"/>
            </a:lvl4pPr>
            <a:lvl5pPr marL="1827703" indent="0">
              <a:buNone/>
              <a:defRPr sz="1000"/>
            </a:lvl5pPr>
            <a:lvl6pPr marL="2284628" indent="0">
              <a:buNone/>
              <a:defRPr sz="1000"/>
            </a:lvl6pPr>
            <a:lvl7pPr marL="2741554" indent="0">
              <a:buNone/>
              <a:defRPr sz="1000"/>
            </a:lvl7pPr>
            <a:lvl8pPr marL="3198480" indent="0">
              <a:buNone/>
              <a:defRPr sz="1000"/>
            </a:lvl8pPr>
            <a:lvl9pPr marL="3655406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17503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158" y="4800600"/>
            <a:ext cx="8594428" cy="566738"/>
          </a:xfrm>
        </p:spPr>
        <p:txBody>
          <a:bodyPr anchor="b">
            <a:normAutofit/>
          </a:bodyPr>
          <a:lstStyle>
            <a:lvl1pPr algn="l">
              <a:defRPr sz="2399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158" y="609600"/>
            <a:ext cx="8594429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063" indent="0">
              <a:buNone/>
              <a:defRPr sz="1600"/>
            </a:lvl2pPr>
            <a:lvl3pPr marL="914126" indent="0">
              <a:buNone/>
              <a:defRPr sz="1600"/>
            </a:lvl3pPr>
            <a:lvl4pPr marL="1371189" indent="0">
              <a:buNone/>
              <a:defRPr sz="1600"/>
            </a:lvl4pPr>
            <a:lvl5pPr marL="1828251" indent="0">
              <a:buNone/>
              <a:defRPr sz="1600"/>
            </a:lvl5pPr>
            <a:lvl6pPr marL="2285314" indent="0">
              <a:buNone/>
              <a:defRPr sz="1600"/>
            </a:lvl6pPr>
            <a:lvl7pPr marL="2742377" indent="0">
              <a:buNone/>
              <a:defRPr sz="1600"/>
            </a:lvl7pPr>
            <a:lvl8pPr marL="3199440" indent="0">
              <a:buNone/>
              <a:defRPr sz="1600"/>
            </a:lvl8pPr>
            <a:lvl9pPr marL="3656503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158" y="5367338"/>
            <a:ext cx="8594428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9952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159" y="609600"/>
            <a:ext cx="8594429" cy="3403600"/>
          </a:xfrm>
        </p:spPr>
        <p:txBody>
          <a:bodyPr anchor="ctr">
            <a:normAutofit/>
          </a:bodyPr>
          <a:lstStyle>
            <a:lvl1pPr algn="l">
              <a:defRPr sz="4399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159" y="4470400"/>
            <a:ext cx="8594429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799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09623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092" y="609600"/>
            <a:ext cx="8092026" cy="3022600"/>
          </a:xfrm>
        </p:spPr>
        <p:txBody>
          <a:bodyPr anchor="ctr">
            <a:normAutofit/>
          </a:bodyPr>
          <a:lstStyle>
            <a:lvl1pPr algn="l">
              <a:defRPr sz="4399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5783" y="3632200"/>
            <a:ext cx="7222643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063" indent="0">
              <a:buFontTx/>
              <a:buNone/>
              <a:defRPr/>
            </a:lvl2pPr>
            <a:lvl3pPr marL="914126" indent="0">
              <a:buFontTx/>
              <a:buNone/>
              <a:defRPr/>
            </a:lvl3pPr>
            <a:lvl4pPr marL="1371189" indent="0">
              <a:buFontTx/>
              <a:buNone/>
              <a:defRPr/>
            </a:lvl4pPr>
            <a:lvl5pPr marL="1828251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159" y="4470400"/>
            <a:ext cx="8594429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799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729" y="790378"/>
            <a:ext cx="609441" cy="584776"/>
          </a:xfrm>
          <a:prstGeom prst="rect">
            <a:avLst/>
          </a:prstGeom>
        </p:spPr>
        <p:txBody>
          <a:bodyPr vert="horz" lIns="91416" tIns="45708" rIns="91416" bIns="45708" rtlCol="0" anchor="ctr">
            <a:noAutofit/>
          </a:bodyPr>
          <a:lstStyle/>
          <a:p>
            <a:pPr lvl="0"/>
            <a:r>
              <a:rPr lang="en-US" sz="7998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0695" y="2886556"/>
            <a:ext cx="609441" cy="584776"/>
          </a:xfrm>
          <a:prstGeom prst="rect">
            <a:avLst/>
          </a:prstGeom>
        </p:spPr>
        <p:txBody>
          <a:bodyPr vert="horz" lIns="91416" tIns="45708" rIns="91416" bIns="45708" rtlCol="0" anchor="ctr">
            <a:noAutofit/>
          </a:bodyPr>
          <a:lstStyle/>
          <a:p>
            <a:pPr lvl="0"/>
            <a:r>
              <a:rPr lang="en-US" sz="7998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sz="1799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568768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159" y="1931988"/>
            <a:ext cx="8594429" cy="2595460"/>
          </a:xfrm>
        </p:spPr>
        <p:txBody>
          <a:bodyPr anchor="b">
            <a:normAutofit/>
          </a:bodyPr>
          <a:lstStyle>
            <a:lvl1pPr algn="l">
              <a:defRPr sz="4399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159" y="4527448"/>
            <a:ext cx="8594429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799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847997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092" y="609600"/>
            <a:ext cx="8092026" cy="3022600"/>
          </a:xfrm>
        </p:spPr>
        <p:txBody>
          <a:bodyPr anchor="ctr">
            <a:normAutofit/>
          </a:bodyPr>
          <a:lstStyle>
            <a:lvl1pPr algn="l">
              <a:defRPr sz="4399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156" y="4013200"/>
            <a:ext cx="8594430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399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063" indent="0">
              <a:buFontTx/>
              <a:buNone/>
              <a:defRPr/>
            </a:lvl2pPr>
            <a:lvl3pPr marL="914126" indent="0">
              <a:buFontTx/>
              <a:buNone/>
              <a:defRPr/>
            </a:lvl3pPr>
            <a:lvl4pPr marL="1371189" indent="0">
              <a:buFontTx/>
              <a:buNone/>
              <a:defRPr/>
            </a:lvl4pPr>
            <a:lvl5pPr marL="1828251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159" y="4527448"/>
            <a:ext cx="8594429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799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729" y="790378"/>
            <a:ext cx="609441" cy="584776"/>
          </a:xfrm>
          <a:prstGeom prst="rect">
            <a:avLst/>
          </a:prstGeom>
        </p:spPr>
        <p:txBody>
          <a:bodyPr vert="horz" lIns="91416" tIns="45708" rIns="91416" bIns="45708" rtlCol="0" anchor="ctr">
            <a:noAutofit/>
          </a:bodyPr>
          <a:lstStyle/>
          <a:p>
            <a:pPr lvl="0"/>
            <a:r>
              <a:rPr lang="en-US" sz="7998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0695" y="2886556"/>
            <a:ext cx="609441" cy="584776"/>
          </a:xfrm>
          <a:prstGeom prst="rect">
            <a:avLst/>
          </a:prstGeom>
        </p:spPr>
        <p:txBody>
          <a:bodyPr vert="horz" lIns="91416" tIns="45708" rIns="91416" bIns="45708" rtlCol="0" anchor="ctr">
            <a:noAutofit/>
          </a:bodyPr>
          <a:lstStyle/>
          <a:p>
            <a:pPr lvl="0"/>
            <a:r>
              <a:rPr lang="en-US" sz="7998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345575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621" y="609600"/>
            <a:ext cx="8585966" cy="3022600"/>
          </a:xfrm>
        </p:spPr>
        <p:txBody>
          <a:bodyPr anchor="ctr">
            <a:normAutofit/>
          </a:bodyPr>
          <a:lstStyle>
            <a:lvl1pPr algn="l">
              <a:defRPr sz="4399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156" y="4013200"/>
            <a:ext cx="8594430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399">
                <a:solidFill>
                  <a:schemeClr val="accent1"/>
                </a:solidFill>
              </a:defRPr>
            </a:lvl1pPr>
            <a:lvl2pPr marL="457063" indent="0">
              <a:buFontTx/>
              <a:buNone/>
              <a:defRPr/>
            </a:lvl2pPr>
            <a:lvl3pPr marL="914126" indent="0">
              <a:buFontTx/>
              <a:buNone/>
              <a:defRPr/>
            </a:lvl3pPr>
            <a:lvl4pPr marL="1371189" indent="0">
              <a:buFontTx/>
              <a:buNone/>
              <a:defRPr/>
            </a:lvl4pPr>
            <a:lvl5pPr marL="1828251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159" y="4527448"/>
            <a:ext cx="8594429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799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381857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96582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5599" y="609600"/>
            <a:ext cx="130440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159" y="609600"/>
            <a:ext cx="7058311" cy="525145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51160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88825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158" y="609600"/>
            <a:ext cx="8594429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158" y="2160590"/>
            <a:ext cx="8594429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3257" y="6041363"/>
            <a:ext cx="9117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158" y="6041363"/>
            <a:ext cx="62959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88426" y="6041363"/>
            <a:ext cx="68316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34204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063" rtl="0" eaLnBrk="1" latinLnBrk="0" hangingPunct="1">
        <a:spcBef>
          <a:spcPct val="0"/>
        </a:spcBef>
        <a:buNone/>
        <a:defRPr sz="3599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797" indent="-342797" algn="l" defTabSz="4570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799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727" indent="-285664" algn="l" defTabSz="4570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2657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599720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6783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3846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0908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7971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5034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63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126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189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251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314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377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440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503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011680"/>
            <a:ext cx="10360152" cy="2523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02C57"/>
                </a:solidFill>
              </a:defRPr>
            </a:pP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REPORT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RETAIL </a:t>
            </a:r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SALES PERFORMANCE </a:t>
            </a: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TAHUN 2025</a:t>
            </a:r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l">
              <a:defRPr sz="2000">
                <a:solidFill>
                  <a:srgbClr val="212121"/>
                </a:solidFill>
              </a:defRPr>
            </a:pPr>
            <a:r>
              <a:rPr sz="28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Analisis</a:t>
            </a:r>
            <a:r>
              <a:rPr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Performa </a:t>
            </a:r>
            <a:r>
              <a:rPr sz="28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Bisnis</a:t>
            </a:r>
            <a:r>
              <a:rPr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sz="28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Segmentasi</a:t>
            </a:r>
            <a:r>
              <a:rPr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8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Pasar</a:t>
            </a:r>
            <a:r>
              <a:rPr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sz="28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dan</a:t>
            </a:r>
            <a:r>
              <a:rPr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8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Efisiensi</a:t>
            </a:r>
            <a:r>
              <a:rPr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8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Operasional</a:t>
            </a:r>
            <a:r>
              <a:rPr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r>
              <a:rPr dirty="0"/>
              <a:t/>
            </a:r>
            <a:br>
              <a:rPr dirty="0"/>
            </a:br>
            <a:r>
              <a:rPr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Analyst Portfolio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33066" y="443132"/>
            <a:ext cx="7473584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02C57"/>
                </a:solidFill>
              </a:defRPr>
            </a:pPr>
            <a:r>
              <a:rPr sz="2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Ringkasan</a:t>
            </a:r>
            <a:r>
              <a:rPr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Performa </a:t>
            </a:r>
            <a:r>
              <a:rPr sz="2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Eksekutif</a:t>
            </a:r>
            <a:r>
              <a:rPr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Makro</a:t>
            </a:r>
            <a:r>
              <a:rPr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 err="1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Tahun</a:t>
            </a:r>
            <a:r>
              <a:rPr lang="en-US" sz="28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8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2025</a:t>
            </a:r>
            <a:endParaRPr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2856872" cy="10156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9688"/>
                </a:solidFill>
              </a:defRPr>
            </a:pPr>
            <a:r>
              <a:rPr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TOTAL REVENUE</a:t>
            </a:r>
          </a:p>
          <a:p>
            <a:pPr>
              <a:defRPr sz="3200" b="1">
                <a:solidFill>
                  <a:srgbClr val="102C57"/>
                </a:solidFill>
              </a:defRPr>
            </a:pPr>
            <a:r>
              <a:rPr dirty="0" err="1"/>
              <a:t>Rp</a:t>
            </a:r>
            <a:r>
              <a:rPr dirty="0"/>
              <a:t> 2,33 </a:t>
            </a:r>
            <a:r>
              <a:rPr dirty="0" err="1"/>
              <a:t>Miliar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4343400" y="1645920"/>
            <a:ext cx="2710422" cy="10156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9688"/>
                </a:solidFill>
              </a:defRPr>
            </a:pPr>
            <a:r>
              <a:rPr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TRANSAKSI UNIK</a:t>
            </a:r>
          </a:p>
          <a:p>
            <a:pPr>
              <a:defRPr sz="3200" b="1">
                <a:solidFill>
                  <a:srgbClr val="102C57"/>
                </a:solidFill>
              </a:defRPr>
            </a:pPr>
            <a:r>
              <a:rPr dirty="0"/>
              <a:t>1.200 Order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1000" y="1616798"/>
            <a:ext cx="3811300" cy="10156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9688"/>
                </a:solidFill>
              </a:defRPr>
            </a:pPr>
            <a:r>
              <a:rPr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RATA-RATA / TRANSAKSI</a:t>
            </a:r>
          </a:p>
          <a:p>
            <a:pPr>
              <a:defRPr sz="3200" b="1">
                <a:solidFill>
                  <a:srgbClr val="102C57"/>
                </a:solidFill>
              </a:defRPr>
            </a:pPr>
            <a:r>
              <a:rPr dirty="0" err="1"/>
              <a:t>Rp</a:t>
            </a:r>
            <a:r>
              <a:rPr dirty="0"/>
              <a:t> 1,94 </a:t>
            </a:r>
            <a:r>
              <a:rPr dirty="0" err="1"/>
              <a:t>Juta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685800" y="3118783"/>
            <a:ext cx="10817352" cy="3231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2C57"/>
                </a:solidFill>
              </a:defRPr>
            </a:pPr>
            <a:r>
              <a:rPr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Kesimpulan</a:t>
            </a:r>
            <a:r>
              <a:rPr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Dashboard &amp; </a:t>
            </a:r>
            <a:r>
              <a:rPr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Analisis</a:t>
            </a:r>
            <a:r>
              <a:rPr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Utama</a:t>
            </a:r>
            <a:r>
              <a:rPr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  <a:defRPr sz="1400">
                <a:solidFill>
                  <a:srgbClr val="212121"/>
                </a:solidFill>
              </a:defRPr>
            </a:pPr>
            <a:r>
              <a:rPr sz="20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Kesehatan</a:t>
            </a:r>
            <a:r>
              <a:rPr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Finansial</a:t>
            </a:r>
            <a:r>
              <a:rPr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Makro</a:t>
            </a:r>
            <a:r>
              <a:rPr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Sehat</a:t>
            </a:r>
            <a:r>
              <a:rPr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Bisnis</a:t>
            </a:r>
            <a:r>
              <a:rPr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mencatatkan</a:t>
            </a:r>
            <a:r>
              <a:rPr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total </a:t>
            </a:r>
            <a:r>
              <a:rPr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pendapatan</a:t>
            </a:r>
            <a:r>
              <a:rPr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bersih</a:t>
            </a:r>
            <a:r>
              <a:rPr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</a:t>
            </a:r>
          </a:p>
          <a:p>
            <a:pPr algn="just">
              <a:lnSpc>
                <a:spcPct val="150000"/>
              </a:lnSpc>
              <a:defRPr sz="1400">
                <a:solidFill>
                  <a:srgbClr val="212121"/>
                </a:solidFill>
              </a:defRPr>
            </a:pPr>
            <a:r>
              <a:rPr lang="en-US" sz="20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</a:t>
            </a:r>
            <a:r>
              <a:rPr sz="20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yang </a:t>
            </a:r>
            <a:r>
              <a:rPr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solid </a:t>
            </a:r>
            <a:r>
              <a:rPr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sebesar</a:t>
            </a:r>
            <a:r>
              <a:rPr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Rp</a:t>
            </a:r>
            <a:r>
              <a:rPr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2,33 </a:t>
            </a:r>
            <a:r>
              <a:rPr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Miliar</a:t>
            </a:r>
            <a:r>
              <a:rPr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sepanjang</a:t>
            </a:r>
            <a:r>
              <a:rPr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periode</a:t>
            </a:r>
            <a:r>
              <a:rPr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2025.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  <a:defRPr sz="1400">
                <a:solidFill>
                  <a:srgbClr val="212121"/>
                </a:solidFill>
              </a:defRPr>
            </a:pPr>
            <a:r>
              <a:rPr sz="20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Nilai</a:t>
            </a:r>
            <a:r>
              <a:rPr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Keranjang</a:t>
            </a:r>
            <a:r>
              <a:rPr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Belanja</a:t>
            </a:r>
            <a:r>
              <a:rPr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Tinggi: </a:t>
            </a:r>
            <a:r>
              <a:rPr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Nilai</a:t>
            </a:r>
            <a:r>
              <a:rPr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rata-rata per </a:t>
            </a:r>
            <a:r>
              <a:rPr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transaksi</a:t>
            </a:r>
            <a:r>
              <a:rPr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komersial</a:t>
            </a:r>
            <a:r>
              <a:rPr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(AOV) </a:t>
            </a:r>
            <a:r>
              <a:rPr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mencapai</a:t>
            </a:r>
            <a:r>
              <a:rPr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Rp</a:t>
            </a:r>
            <a:r>
              <a:rPr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1,94 </a:t>
            </a:r>
            <a:r>
              <a:rPr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Juta</a:t>
            </a:r>
            <a:r>
              <a:rPr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menunjukkan</a:t>
            </a:r>
            <a:r>
              <a:rPr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dominasi</a:t>
            </a:r>
            <a:r>
              <a:rPr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pembelian</a:t>
            </a:r>
            <a:r>
              <a:rPr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produk</a:t>
            </a:r>
            <a:r>
              <a:rPr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bernilai</a:t>
            </a:r>
            <a:r>
              <a:rPr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tinggi</a:t>
            </a:r>
            <a:r>
              <a:rPr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atau</a:t>
            </a:r>
            <a:r>
              <a:rPr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dalam</a:t>
            </a:r>
            <a:r>
              <a:rPr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kuantitas</a:t>
            </a:r>
            <a:r>
              <a:rPr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besar</a:t>
            </a:r>
            <a:r>
              <a:rPr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per </a:t>
            </a:r>
            <a:r>
              <a:rPr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transaksi</a:t>
            </a:r>
            <a:r>
              <a:rPr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  <a:defRPr sz="1400">
                <a:solidFill>
                  <a:srgbClr val="212121"/>
                </a:solidFill>
              </a:defRPr>
            </a:pPr>
            <a:r>
              <a:rPr sz="20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Insight: </a:t>
            </a:r>
            <a:r>
              <a:rPr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Struktur</a:t>
            </a:r>
            <a:r>
              <a:rPr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transaksi</a:t>
            </a:r>
            <a:r>
              <a:rPr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menunjukkan</a:t>
            </a:r>
            <a:r>
              <a:rPr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efisiensi</a:t>
            </a:r>
            <a:r>
              <a:rPr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operasional</a:t>
            </a:r>
            <a:r>
              <a:rPr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hulu</a:t>
            </a:r>
            <a:r>
              <a:rPr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yang </a:t>
            </a:r>
            <a:r>
              <a:rPr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stabil</a:t>
            </a:r>
            <a:r>
              <a:rPr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di mana volume </a:t>
            </a:r>
            <a:r>
              <a:rPr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transaksi</a:t>
            </a:r>
            <a:r>
              <a:rPr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unik</a:t>
            </a:r>
            <a:r>
              <a:rPr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(1.200 order) </a:t>
            </a:r>
            <a:r>
              <a:rPr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bergerak</a:t>
            </a:r>
            <a:r>
              <a:rPr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konsisten</a:t>
            </a:r>
            <a:r>
              <a:rPr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tanpa</a:t>
            </a:r>
            <a:r>
              <a:rPr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lonjakan</a:t>
            </a:r>
            <a:r>
              <a:rPr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pembatalan</a:t>
            </a:r>
            <a:r>
              <a:rPr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makro</a:t>
            </a:r>
            <a:r>
              <a:rPr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496685" y="52772"/>
            <a:ext cx="4511556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02C57"/>
                </a:solidFill>
              </a:defRPr>
            </a:pPr>
            <a:r>
              <a:rPr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Analisis</a:t>
            </a:r>
            <a:r>
              <a:rPr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Tren</a:t>
            </a:r>
            <a:r>
              <a:rPr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Pendapatan</a:t>
            </a:r>
            <a:r>
              <a:rPr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Bulanan</a:t>
            </a:r>
            <a:endParaRPr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85800" y="4092636"/>
            <a:ext cx="10817352" cy="26161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/>
            </a:pPr>
            <a:r>
              <a:rPr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Kinerja</a:t>
            </a:r>
            <a:r>
              <a:rPr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Penjualan</a:t>
            </a:r>
            <a:r>
              <a:rPr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Bulanan</a:t>
            </a:r>
            <a:r>
              <a:rPr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Terdistribusi</a:t>
            </a:r>
            <a:r>
              <a:rPr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marL="342900" indent="-342900" algn="just">
              <a:buFont typeface="Arial" panose="020B0604020202020204" pitchFamily="34" charset="0"/>
              <a:buChar char="•"/>
              <a:defRPr sz="1400">
                <a:solidFill>
                  <a:srgbClr val="212121"/>
                </a:solidFill>
              </a:defRPr>
            </a:pPr>
            <a:r>
              <a:rPr sz="2000" dirty="0" err="1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PuncakSeason</a:t>
            </a:r>
            <a:r>
              <a:rPr sz="20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Komersial</a:t>
            </a:r>
            <a:r>
              <a:rPr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(Peak Season): </a:t>
            </a:r>
            <a:r>
              <a:rPr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Bulan</a:t>
            </a:r>
            <a:r>
              <a:rPr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Agustus</a:t>
            </a:r>
            <a:r>
              <a:rPr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mencatat</a:t>
            </a:r>
            <a:r>
              <a:rPr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kontribusi</a:t>
            </a:r>
            <a:r>
              <a:rPr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omset</a:t>
            </a:r>
            <a:r>
              <a:rPr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tertinggi</a:t>
            </a:r>
            <a:r>
              <a:rPr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tahunan</a:t>
            </a:r>
            <a:r>
              <a:rPr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sebesar</a:t>
            </a:r>
            <a:r>
              <a:rPr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Rp</a:t>
            </a:r>
            <a:r>
              <a:rPr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959,3 </a:t>
            </a:r>
            <a:r>
              <a:rPr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Juta</a:t>
            </a:r>
            <a:r>
              <a:rPr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disusul</a:t>
            </a:r>
            <a:r>
              <a:rPr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oleh</a:t>
            </a:r>
            <a:r>
              <a:rPr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bulan</a:t>
            </a:r>
            <a:r>
              <a:rPr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Juli</a:t>
            </a:r>
            <a:r>
              <a:rPr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Rp</a:t>
            </a:r>
            <a:r>
              <a:rPr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847,7 </a:t>
            </a:r>
            <a:r>
              <a:rPr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Juta</a:t>
            </a:r>
            <a:r>
              <a:rPr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). </a:t>
            </a:r>
            <a:r>
              <a:rPr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Periode</a:t>
            </a:r>
            <a:r>
              <a:rPr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ini</a:t>
            </a:r>
            <a:r>
              <a:rPr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menjadi</a:t>
            </a:r>
            <a:r>
              <a:rPr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motor </a:t>
            </a:r>
            <a:r>
              <a:rPr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penggerak</a:t>
            </a:r>
            <a:r>
              <a:rPr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utama</a:t>
            </a:r>
            <a:r>
              <a:rPr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pertumbuhan</a:t>
            </a:r>
            <a:r>
              <a:rPr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bisnis</a:t>
            </a:r>
            <a:r>
              <a:rPr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342900" indent="-342900" algn="just">
              <a:buFont typeface="Arial" panose="020B0604020202020204" pitchFamily="34" charset="0"/>
              <a:buChar char="•"/>
              <a:defRPr sz="1400">
                <a:solidFill>
                  <a:srgbClr val="212121"/>
                </a:solidFill>
              </a:defRPr>
            </a:pPr>
            <a:r>
              <a:rPr sz="2000" dirty="0" err="1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Periode</a:t>
            </a:r>
            <a:r>
              <a:rPr sz="20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Kontraksi</a:t>
            </a:r>
            <a:r>
              <a:rPr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Pasar</a:t>
            </a:r>
            <a:r>
              <a:rPr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Penjualan</a:t>
            </a:r>
            <a:r>
              <a:rPr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terendah</a:t>
            </a:r>
            <a:r>
              <a:rPr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tercatat</a:t>
            </a:r>
            <a:r>
              <a:rPr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pada</a:t>
            </a:r>
            <a:r>
              <a:rPr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bulan</a:t>
            </a:r>
            <a:r>
              <a:rPr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September </a:t>
            </a:r>
            <a:r>
              <a:rPr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sebesar</a:t>
            </a:r>
            <a:r>
              <a:rPr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Rp</a:t>
            </a:r>
            <a:r>
              <a:rPr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470,5 </a:t>
            </a:r>
            <a:r>
              <a:rPr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Juta</a:t>
            </a:r>
            <a:r>
              <a:rPr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mengindikasikan</a:t>
            </a:r>
            <a:r>
              <a:rPr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adanya</a:t>
            </a:r>
            <a:r>
              <a:rPr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koreksi</a:t>
            </a:r>
            <a:r>
              <a:rPr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musiman</a:t>
            </a:r>
            <a:r>
              <a:rPr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setelah</a:t>
            </a:r>
            <a:r>
              <a:rPr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lonjakan</a:t>
            </a:r>
            <a:r>
              <a:rPr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tajam</a:t>
            </a:r>
            <a:r>
              <a:rPr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di </a:t>
            </a:r>
            <a:r>
              <a:rPr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bulan</a:t>
            </a:r>
            <a:r>
              <a:rPr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Agustus</a:t>
            </a:r>
            <a:r>
              <a:rPr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342900" indent="-342900" algn="just">
              <a:buFont typeface="Arial" panose="020B0604020202020204" pitchFamily="34" charset="0"/>
              <a:buChar char="•"/>
              <a:defRPr sz="1400">
                <a:solidFill>
                  <a:srgbClr val="212121"/>
                </a:solidFill>
              </a:defRPr>
            </a:pPr>
            <a:r>
              <a:rPr sz="20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Insight </a:t>
            </a:r>
            <a:r>
              <a:rPr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Operasional</a:t>
            </a:r>
            <a:r>
              <a:rPr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Bulanan</a:t>
            </a:r>
            <a:r>
              <a:rPr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Fluktuasi</a:t>
            </a:r>
            <a:r>
              <a:rPr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ini</a:t>
            </a:r>
            <a:r>
              <a:rPr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memerlukan</a:t>
            </a:r>
            <a:r>
              <a:rPr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strategi</a:t>
            </a:r>
            <a:r>
              <a:rPr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manajemen</a:t>
            </a:r>
            <a:r>
              <a:rPr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inventori</a:t>
            </a:r>
            <a:r>
              <a:rPr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yang </a:t>
            </a:r>
            <a:r>
              <a:rPr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dinamis</a:t>
            </a:r>
            <a:r>
              <a:rPr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agar </a:t>
            </a:r>
            <a:r>
              <a:rPr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tidak</a:t>
            </a:r>
            <a:r>
              <a:rPr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terjadi</a:t>
            </a:r>
            <a:r>
              <a:rPr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penumpukan</a:t>
            </a:r>
            <a:r>
              <a:rPr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stok</a:t>
            </a:r>
            <a:r>
              <a:rPr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(overstock) </a:t>
            </a:r>
            <a:r>
              <a:rPr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pasca</a:t>
            </a:r>
            <a:r>
              <a:rPr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bulan</a:t>
            </a:r>
            <a:r>
              <a:rPr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Agustus</a:t>
            </a:r>
            <a:r>
              <a:rPr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graphicFrame>
        <p:nvGraphicFramePr>
          <p:cNvPr id="4" name="Chart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00031940"/>
              </p:ext>
            </p:extLst>
          </p:nvPr>
        </p:nvGraphicFramePr>
        <p:xfrm>
          <a:off x="398585" y="584775"/>
          <a:ext cx="11104567" cy="350786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316459" y="195590"/>
            <a:ext cx="5264646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02C57"/>
                </a:solidFill>
              </a:defRPr>
            </a:pPr>
            <a:r>
              <a:rPr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Analisis</a:t>
            </a:r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Kategori</a:t>
            </a:r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Produk</a:t>
            </a:r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&amp; </a:t>
            </a:r>
            <a:r>
              <a:rPr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Profitabilitas</a:t>
            </a:r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85800" y="3987277"/>
            <a:ext cx="10817352" cy="2985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/>
            </a:pPr>
            <a:r>
              <a:rPr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Kontribusi</a:t>
            </a:r>
            <a:r>
              <a:rPr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Sektor</a:t>
            </a:r>
            <a:r>
              <a:rPr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Komoditas</a:t>
            </a:r>
            <a:r>
              <a:rPr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  <a:defRPr sz="1400">
                <a:solidFill>
                  <a:srgbClr val="212121"/>
                </a:solidFill>
              </a:defRPr>
            </a:pPr>
            <a:r>
              <a:rPr sz="1600" dirty="0" err="1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Dominasi</a:t>
            </a:r>
            <a:r>
              <a:rPr sz="16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Mutlak</a:t>
            </a:r>
            <a:r>
              <a:rPr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Sektor</a:t>
            </a:r>
            <a:r>
              <a:rPr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Elektronik</a:t>
            </a:r>
            <a:r>
              <a:rPr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Kategori</a:t>
            </a:r>
            <a:r>
              <a:rPr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Electronics </a:t>
            </a:r>
            <a:r>
              <a:rPr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menguasai</a:t>
            </a:r>
            <a:r>
              <a:rPr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mayoritas</a:t>
            </a:r>
            <a:r>
              <a:rPr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pasar</a:t>
            </a:r>
            <a:r>
              <a:rPr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dengan</a:t>
            </a:r>
            <a:r>
              <a:rPr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menyumbang</a:t>
            </a:r>
            <a:r>
              <a:rPr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pendapatan</a:t>
            </a:r>
            <a:r>
              <a:rPr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sebesar</a:t>
            </a:r>
            <a:r>
              <a:rPr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Rp</a:t>
            </a:r>
            <a:r>
              <a:rPr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6,39 </a:t>
            </a:r>
            <a:r>
              <a:rPr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Miliar</a:t>
            </a:r>
            <a:r>
              <a:rPr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(75,08% </a:t>
            </a:r>
            <a:r>
              <a:rPr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dari</a:t>
            </a:r>
            <a:r>
              <a:rPr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total revenue) </a:t>
            </a:r>
            <a:r>
              <a:rPr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dan</a:t>
            </a:r>
            <a:r>
              <a:rPr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mendominasi</a:t>
            </a:r>
            <a:r>
              <a:rPr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profit </a:t>
            </a:r>
            <a:r>
              <a:rPr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bersih</a:t>
            </a:r>
            <a:r>
              <a:rPr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senilai</a:t>
            </a:r>
            <a:r>
              <a:rPr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Rp</a:t>
            </a:r>
            <a:r>
              <a:rPr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2,04 </a:t>
            </a:r>
            <a:r>
              <a:rPr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Miliar</a:t>
            </a:r>
            <a:r>
              <a:rPr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  <a:defRPr sz="1400">
                <a:solidFill>
                  <a:srgbClr val="212121"/>
                </a:solidFill>
              </a:defRPr>
            </a:pPr>
            <a:r>
              <a:rPr sz="1600" dirty="0" err="1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Sektor</a:t>
            </a:r>
            <a:r>
              <a:rPr sz="16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Komplementer</a:t>
            </a:r>
            <a:r>
              <a:rPr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Kategori</a:t>
            </a:r>
            <a:r>
              <a:rPr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Furniture </a:t>
            </a:r>
            <a:r>
              <a:rPr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menyumbang</a:t>
            </a:r>
            <a:r>
              <a:rPr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porsi</a:t>
            </a:r>
            <a:r>
              <a:rPr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signifikan</a:t>
            </a:r>
            <a:r>
              <a:rPr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kedua</a:t>
            </a:r>
            <a:r>
              <a:rPr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sebesar</a:t>
            </a:r>
            <a:r>
              <a:rPr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Rp</a:t>
            </a:r>
            <a:r>
              <a:rPr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1,75 </a:t>
            </a:r>
            <a:r>
              <a:rPr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Miliar</a:t>
            </a:r>
            <a:r>
              <a:rPr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(20,56%), </a:t>
            </a:r>
            <a:r>
              <a:rPr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sementara</a:t>
            </a:r>
            <a:r>
              <a:rPr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Accessories (</a:t>
            </a:r>
            <a:r>
              <a:rPr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Rp</a:t>
            </a:r>
            <a:r>
              <a:rPr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234,6 </a:t>
            </a:r>
            <a:r>
              <a:rPr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Juta</a:t>
            </a:r>
            <a:r>
              <a:rPr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dan</a:t>
            </a:r>
            <a:r>
              <a:rPr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Lifestyle (</a:t>
            </a:r>
            <a:r>
              <a:rPr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Rp</a:t>
            </a:r>
            <a:r>
              <a:rPr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136,4 </a:t>
            </a:r>
            <a:r>
              <a:rPr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Juta</a:t>
            </a:r>
            <a:r>
              <a:rPr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bergerak</a:t>
            </a:r>
            <a:r>
              <a:rPr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sebagai</a:t>
            </a:r>
            <a:r>
              <a:rPr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lini</a:t>
            </a:r>
            <a:r>
              <a:rPr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pelengkap</a:t>
            </a:r>
            <a:r>
              <a:rPr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  <a:defRPr sz="1400">
                <a:solidFill>
                  <a:srgbClr val="212121"/>
                </a:solidFill>
              </a:defRPr>
            </a:pPr>
            <a:r>
              <a:rPr sz="16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Insight </a:t>
            </a:r>
            <a:r>
              <a:rPr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Struktur</a:t>
            </a:r>
            <a:r>
              <a:rPr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Profit: </a:t>
            </a:r>
            <a:r>
              <a:rPr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Sektor</a:t>
            </a:r>
            <a:r>
              <a:rPr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Electronics </a:t>
            </a:r>
            <a:r>
              <a:rPr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mencatatkan</a:t>
            </a:r>
            <a:r>
              <a:rPr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rata-rata profit margin </a:t>
            </a:r>
            <a:r>
              <a:rPr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tertinggi</a:t>
            </a:r>
            <a:r>
              <a:rPr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mencapai</a:t>
            </a:r>
            <a:r>
              <a:rPr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49,06%, </a:t>
            </a:r>
            <a:r>
              <a:rPr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menjadikannya</a:t>
            </a:r>
            <a:r>
              <a:rPr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jangkar</a:t>
            </a:r>
            <a:r>
              <a:rPr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utama</a:t>
            </a:r>
            <a:r>
              <a:rPr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bisnis</a:t>
            </a:r>
            <a:r>
              <a:rPr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Sebaliknya</a:t>
            </a:r>
            <a:r>
              <a:rPr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lini</a:t>
            </a:r>
            <a:r>
              <a:rPr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Lifestyle (</a:t>
            </a:r>
            <a:r>
              <a:rPr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seperti</a:t>
            </a:r>
            <a:r>
              <a:rPr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Backpack Urban) </a:t>
            </a:r>
            <a:r>
              <a:rPr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mencatat</a:t>
            </a:r>
            <a:r>
              <a:rPr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margin paling </a:t>
            </a:r>
            <a:r>
              <a:rPr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kritis</a:t>
            </a:r>
            <a:r>
              <a:rPr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yaitu</a:t>
            </a:r>
            <a:r>
              <a:rPr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8,33% </a:t>
            </a:r>
            <a:r>
              <a:rPr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akibat</a:t>
            </a:r>
            <a:r>
              <a:rPr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tingginya</a:t>
            </a:r>
            <a:r>
              <a:rPr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harga</a:t>
            </a:r>
            <a:r>
              <a:rPr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pokok</a:t>
            </a:r>
            <a:r>
              <a:rPr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penjualan</a:t>
            </a:r>
            <a:r>
              <a:rPr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(HPP).</a:t>
            </a:r>
          </a:p>
        </p:txBody>
      </p:sp>
      <p:graphicFrame>
        <p:nvGraphicFramePr>
          <p:cNvPr id="5" name="Chart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30201072"/>
              </p:ext>
            </p:extLst>
          </p:nvPr>
        </p:nvGraphicFramePr>
        <p:xfrm>
          <a:off x="1055077" y="869777"/>
          <a:ext cx="10269415" cy="3117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634440" y="29756"/>
            <a:ext cx="7107523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02C57"/>
                </a:solidFill>
              </a:defRPr>
            </a:pPr>
            <a:r>
              <a:rPr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Analisis</a:t>
            </a:r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Segmentasi</a:t>
            </a:r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Pelanggan</a:t>
            </a:r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&amp; </a:t>
            </a:r>
            <a:r>
              <a:rPr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Metode</a:t>
            </a:r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Pembayaran</a:t>
            </a:r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9696" y="4023360"/>
            <a:ext cx="10817352" cy="22441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/>
            </a:pPr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Peta </a:t>
            </a:r>
            <a:r>
              <a:rPr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Distribusi</a:t>
            </a:r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Demografi</a:t>
            </a:r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&amp; </a:t>
            </a:r>
            <a:r>
              <a:rPr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Transaksi</a:t>
            </a:r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  <a:defRPr sz="1400">
                <a:solidFill>
                  <a:srgbClr val="212121"/>
                </a:solidFill>
              </a:defRPr>
            </a:pPr>
            <a:r>
              <a:rPr dirty="0" err="1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Kekuatan</a:t>
            </a:r>
            <a:r>
              <a:rPr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Pasar</a:t>
            </a:r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Ritel</a:t>
            </a:r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Terfokus</a:t>
            </a:r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Segmentasi</a:t>
            </a:r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pasar</a:t>
            </a:r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didominasi</a:t>
            </a:r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penuh</a:t>
            </a:r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oleh</a:t>
            </a:r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kelompok</a:t>
            </a:r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pembeli</a:t>
            </a:r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individu</a:t>
            </a:r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(Consumer/Retail) </a:t>
            </a:r>
            <a:r>
              <a:rPr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sebesar</a:t>
            </a:r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Rp</a:t>
            </a:r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5,72 </a:t>
            </a:r>
            <a:r>
              <a:rPr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Miliar</a:t>
            </a:r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(67,13% </a:t>
            </a:r>
            <a:r>
              <a:rPr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dari</a:t>
            </a:r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keseluruhan</a:t>
            </a:r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penjualan</a:t>
            </a:r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), </a:t>
            </a:r>
            <a:r>
              <a:rPr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menegaskan</a:t>
            </a:r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fokus</a:t>
            </a:r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strategi</a:t>
            </a:r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pemasaran</a:t>
            </a:r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B2C yang </a:t>
            </a:r>
            <a:r>
              <a:rPr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sangat</a:t>
            </a:r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 err="1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kuat</a:t>
            </a:r>
            <a:r>
              <a:rPr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  <a:defRPr sz="1400">
                <a:solidFill>
                  <a:srgbClr val="212121"/>
                </a:solidFill>
              </a:defRPr>
            </a:pPr>
            <a:r>
              <a:rPr dirty="0" err="1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Saluran</a:t>
            </a:r>
            <a:r>
              <a:rPr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 err="1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Distribusi</a:t>
            </a:r>
            <a:r>
              <a:rPr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Digital </a:t>
            </a:r>
            <a:r>
              <a:rPr dirty="0" err="1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Memimpin</a:t>
            </a:r>
            <a:r>
              <a:rPr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dirty="0" err="1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Metode</a:t>
            </a:r>
            <a:r>
              <a:rPr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Marketplace </a:t>
            </a:r>
            <a:r>
              <a:rPr dirty="0" err="1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menjadi</a:t>
            </a:r>
            <a:r>
              <a:rPr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channel </a:t>
            </a:r>
            <a:r>
              <a:rPr dirty="0" err="1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penyerapan</a:t>
            </a:r>
            <a:r>
              <a:rPr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 err="1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transaksi</a:t>
            </a:r>
            <a:r>
              <a:rPr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 err="1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terbesar</a:t>
            </a:r>
            <a:r>
              <a:rPr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 err="1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dengan</a:t>
            </a:r>
            <a:r>
              <a:rPr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 err="1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kontribusi</a:t>
            </a:r>
            <a:r>
              <a:rPr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35,22%, </a:t>
            </a:r>
            <a:r>
              <a:rPr dirty="0" err="1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mengungguli</a:t>
            </a:r>
            <a:r>
              <a:rPr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Retail Store (27,37%) </a:t>
            </a:r>
            <a:r>
              <a:rPr dirty="0" err="1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dan</a:t>
            </a:r>
            <a:r>
              <a:rPr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Corporate (13,89%).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  <a:defRPr sz="1400">
                <a:solidFill>
                  <a:srgbClr val="212121"/>
                </a:solidFill>
              </a:defRPr>
            </a:pPr>
            <a:r>
              <a:rPr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Insight </a:t>
            </a:r>
            <a:r>
              <a:rPr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Integrasi</a:t>
            </a:r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Finansial</a:t>
            </a:r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Dominasi</a:t>
            </a:r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segmen</a:t>
            </a:r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ritel</a:t>
            </a:r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individu</a:t>
            </a:r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ini</a:t>
            </a:r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berkolaborasi</a:t>
            </a:r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kuat</a:t>
            </a:r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dengan</a:t>
            </a:r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metode</a:t>
            </a:r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transaksi</a:t>
            </a:r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nontunai</a:t>
            </a:r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(E-Wallet </a:t>
            </a:r>
            <a:r>
              <a:rPr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dan</a:t>
            </a:r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Transfer Bank). </a:t>
            </a:r>
            <a:r>
              <a:rPr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Ini</a:t>
            </a:r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menunjukkan</a:t>
            </a:r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bahwa</a:t>
            </a:r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kenyamanan</a:t>
            </a:r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dan</a:t>
            </a:r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fleksibilitas</a:t>
            </a:r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platform </a:t>
            </a:r>
            <a:r>
              <a:rPr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belanja</a:t>
            </a:r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digital </a:t>
            </a:r>
            <a:r>
              <a:rPr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menjadi</a:t>
            </a:r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faktor</a:t>
            </a:r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penentu</a:t>
            </a:r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utama</a:t>
            </a:r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transaksi</a:t>
            </a:r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graphicFrame>
        <p:nvGraphicFramePr>
          <p:cNvPr id="7" name="Chart 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49237715"/>
              </p:ext>
            </p:extLst>
          </p:nvPr>
        </p:nvGraphicFramePr>
        <p:xfrm>
          <a:off x="637466" y="611945"/>
          <a:ext cx="5314950" cy="310192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Chart 7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61105775"/>
              </p:ext>
            </p:extLst>
          </p:nvPr>
        </p:nvGraphicFramePr>
        <p:xfrm>
          <a:off x="6387269" y="611945"/>
          <a:ext cx="5210175" cy="310192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724421" y="330591"/>
            <a:ext cx="4572727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02C57"/>
                </a:solidFill>
              </a:defRPr>
            </a:pPr>
            <a:r>
              <a:rPr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Rekomendasi</a:t>
            </a:r>
            <a:r>
              <a:rPr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Strategis</a:t>
            </a:r>
            <a:r>
              <a:rPr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Bisnis</a:t>
            </a:r>
            <a:r>
              <a:rPr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817352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/>
            </a:pPr>
            <a:r>
              <a:rPr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Langkah</a:t>
            </a:r>
            <a:r>
              <a:rPr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Strategis</a:t>
            </a:r>
            <a:r>
              <a:rPr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Berbasis</a:t>
            </a:r>
            <a:r>
              <a:rPr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Data (Data-Driven Actions):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  <a:defRPr sz="1400">
                <a:solidFill>
                  <a:srgbClr val="212121"/>
                </a:solidFill>
              </a:defRPr>
            </a:pPr>
            <a:r>
              <a:rPr sz="2000" dirty="0" err="1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Skalasi</a:t>
            </a:r>
            <a:r>
              <a:rPr sz="20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Modal </a:t>
            </a:r>
            <a:r>
              <a:rPr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Komoditas</a:t>
            </a:r>
            <a:r>
              <a:rPr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Utama</a:t>
            </a:r>
            <a:r>
              <a:rPr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Mengingat</a:t>
            </a:r>
            <a:r>
              <a:rPr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kategori</a:t>
            </a:r>
            <a:r>
              <a:rPr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Electronics </a:t>
            </a:r>
            <a:r>
              <a:rPr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dan</a:t>
            </a:r>
            <a:r>
              <a:rPr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Furniture </a:t>
            </a:r>
            <a:r>
              <a:rPr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menyumbang</a:t>
            </a:r>
            <a:r>
              <a:rPr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lebih</a:t>
            </a:r>
            <a:r>
              <a:rPr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dari</a:t>
            </a:r>
            <a:r>
              <a:rPr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95% total </a:t>
            </a:r>
            <a:r>
              <a:rPr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laba</a:t>
            </a:r>
            <a:r>
              <a:rPr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bersih</a:t>
            </a:r>
            <a:r>
              <a:rPr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bisnis</a:t>
            </a:r>
            <a:r>
              <a:rPr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alokasi</a:t>
            </a:r>
            <a:r>
              <a:rPr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anggaran</a:t>
            </a:r>
            <a:r>
              <a:rPr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pemasaran</a:t>
            </a:r>
            <a:r>
              <a:rPr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kampanye</a:t>
            </a:r>
            <a:r>
              <a:rPr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iklan</a:t>
            </a:r>
            <a:r>
              <a:rPr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(Campaign) </a:t>
            </a:r>
            <a:r>
              <a:rPr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wajib</a:t>
            </a:r>
            <a:r>
              <a:rPr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diprioritaskan</a:t>
            </a:r>
            <a:r>
              <a:rPr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penuh</a:t>
            </a:r>
            <a:r>
              <a:rPr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pada</a:t>
            </a:r>
            <a:r>
              <a:rPr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kedua</a:t>
            </a:r>
            <a:r>
              <a:rPr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sektor</a:t>
            </a:r>
            <a:r>
              <a:rPr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ini</a:t>
            </a:r>
            <a:r>
              <a:rPr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di </a:t>
            </a:r>
            <a:r>
              <a:rPr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tahun</a:t>
            </a:r>
            <a:r>
              <a:rPr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depan</a:t>
            </a:r>
            <a:r>
              <a:rPr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  <a:defRPr sz="1400">
                <a:solidFill>
                  <a:srgbClr val="212121"/>
                </a:solidFill>
              </a:defRPr>
            </a:pPr>
            <a:r>
              <a:rPr sz="2000" dirty="0" err="1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Optimalisasi</a:t>
            </a:r>
            <a:r>
              <a:rPr sz="20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Lini</a:t>
            </a:r>
            <a:r>
              <a:rPr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Produk</a:t>
            </a:r>
            <a:r>
              <a:rPr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Rendah</a:t>
            </a:r>
            <a:r>
              <a:rPr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Margin: </a:t>
            </a:r>
            <a:r>
              <a:rPr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Diperlukan</a:t>
            </a:r>
            <a:r>
              <a:rPr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peninjauan</a:t>
            </a:r>
            <a:r>
              <a:rPr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ulang</a:t>
            </a:r>
            <a:r>
              <a:rPr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(review) </a:t>
            </a:r>
            <a:r>
              <a:rPr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rantai</a:t>
            </a:r>
            <a:r>
              <a:rPr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pasok</a:t>
            </a:r>
            <a:r>
              <a:rPr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atau</a:t>
            </a:r>
            <a:r>
              <a:rPr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negosiasi</a:t>
            </a:r>
            <a:r>
              <a:rPr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ulang</a:t>
            </a:r>
            <a:r>
              <a:rPr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harga</a:t>
            </a:r>
            <a:r>
              <a:rPr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dengan</a:t>
            </a:r>
            <a:r>
              <a:rPr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supplier </a:t>
            </a:r>
            <a:r>
              <a:rPr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untuk</a:t>
            </a:r>
            <a:r>
              <a:rPr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produk</a:t>
            </a:r>
            <a:r>
              <a:rPr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kategori</a:t>
            </a:r>
            <a:r>
              <a:rPr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Lifestyle (</a:t>
            </a:r>
            <a:r>
              <a:rPr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seperti</a:t>
            </a:r>
            <a:r>
              <a:rPr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Backpack Urban) </a:t>
            </a:r>
            <a:r>
              <a:rPr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guna</a:t>
            </a:r>
            <a:r>
              <a:rPr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menekan</a:t>
            </a:r>
            <a:r>
              <a:rPr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beban</a:t>
            </a:r>
            <a:r>
              <a:rPr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0" i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Cost</a:t>
            </a:r>
            <a:r>
              <a:rPr lang="en-US" sz="20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agar </a:t>
            </a:r>
            <a:r>
              <a:rPr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target </a:t>
            </a:r>
            <a:r>
              <a:rPr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peningkatan</a:t>
            </a:r>
            <a:r>
              <a:rPr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profit margin di </a:t>
            </a:r>
            <a:r>
              <a:rPr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atas</a:t>
            </a:r>
            <a:r>
              <a:rPr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20% </a:t>
            </a:r>
            <a:r>
              <a:rPr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dapat</a:t>
            </a:r>
            <a:r>
              <a:rPr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dicapai</a:t>
            </a:r>
            <a:r>
              <a:rPr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  <a:defRPr sz="1400">
                <a:solidFill>
                  <a:srgbClr val="212121"/>
                </a:solidFill>
              </a:defRPr>
            </a:pPr>
            <a:r>
              <a:rPr sz="20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Program </a:t>
            </a:r>
            <a:r>
              <a:rPr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Retensi</a:t>
            </a:r>
            <a:r>
              <a:rPr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Belanja</a:t>
            </a:r>
            <a:r>
              <a:rPr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Ritel</a:t>
            </a:r>
            <a:r>
              <a:rPr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Digital: </a:t>
            </a:r>
            <a:r>
              <a:rPr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Memanfaatkan</a:t>
            </a:r>
            <a:r>
              <a:rPr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dominasi</a:t>
            </a:r>
            <a:r>
              <a:rPr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segmen</a:t>
            </a:r>
            <a:r>
              <a:rPr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ritel</a:t>
            </a:r>
            <a:r>
              <a:rPr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individu</a:t>
            </a:r>
            <a:r>
              <a:rPr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(Consumer 67,13%) </a:t>
            </a:r>
            <a:r>
              <a:rPr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dengan</a:t>
            </a:r>
            <a:r>
              <a:rPr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meluncurkan</a:t>
            </a:r>
            <a:r>
              <a:rPr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kampanye</a:t>
            </a:r>
            <a:r>
              <a:rPr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loyalitas</a:t>
            </a:r>
            <a:r>
              <a:rPr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(loyalty rewards) </a:t>
            </a:r>
            <a:r>
              <a:rPr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yang </a:t>
            </a:r>
            <a:r>
              <a:rPr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berfokus</a:t>
            </a:r>
            <a:r>
              <a:rPr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pada</a:t>
            </a:r>
            <a:r>
              <a:rPr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ekosistem</a:t>
            </a:r>
            <a:r>
              <a:rPr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platform Marketplace </a:t>
            </a:r>
            <a:r>
              <a:rPr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dan</a:t>
            </a:r>
            <a:r>
              <a:rPr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Website </a:t>
            </a:r>
            <a:r>
              <a:rPr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komersial</a:t>
            </a:r>
            <a:r>
              <a:rPr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untuk</a:t>
            </a:r>
            <a:r>
              <a:rPr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mendongkrak</a:t>
            </a:r>
            <a:r>
              <a:rPr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frekuensi</a:t>
            </a:r>
            <a:r>
              <a:rPr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belanja</a:t>
            </a:r>
            <a:r>
              <a:rPr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berulang</a:t>
            </a:r>
            <a:r>
              <a:rPr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(repeat order).</a:t>
            </a:r>
            <a:endParaRPr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/>
      <a:ea typeface="Calibri Light"/>
      <a:cs typeface="Calibri Light"/>
    </a:majorFont>
    <a:minorFont>
      <a:latin typeface="Calibri"/>
      <a:ea typeface="Calibri"/>
      <a:cs typeface="Calibri"/>
    </a:minorFont>
  </a:fontScheme>
  <a:fmtScheme name="ChatGPT">
    <a:fillStyleLst>
      <a:solidFill>
        <a:schemeClr val="phClr"/>
      </a:solidFill>
      <a:gradFill>
        <a:gsLst>
          <a:gs pos="0">
            <a:schemeClr val="phClr">
              <a:tint val="67000"/>
              <a:lumMod val="110000"/>
              <a:satMod val="105000"/>
            </a:schemeClr>
          </a:gs>
          <a:gs pos="50000">
            <a:schemeClr val="phClr">
              <a:tint val="73000"/>
              <a:lumMod val="105000"/>
              <a:satMod val="103000"/>
            </a:schemeClr>
          </a:gs>
          <a:gs pos="100000">
            <a:schemeClr val="phClr">
              <a:tint val="81000"/>
              <a:lumMod val="105000"/>
              <a:satMod val="109000"/>
            </a:schemeClr>
          </a:gs>
        </a:gsLst>
        <a:lin ang="5400000" scaled="0"/>
      </a:gradFill>
      <a:gradFill>
        <a:gsLst>
          <a:gs pos="0">
            <a:schemeClr val="phClr">
              <a:tint val="94000"/>
              <a:lumMod val="102000"/>
              <a:satMod val="103000"/>
            </a:schemeClr>
          </a:gs>
          <a:gs pos="50000">
            <a:schemeClr val="phClr">
              <a:shade val="100000"/>
              <a:lumMod val="100000"/>
              <a:satMod val="110000"/>
            </a:schemeClr>
          </a:gs>
          <a:gs pos="100000">
            <a:schemeClr val="phClr">
              <a:shade val="78000"/>
              <a:lumMod val="99000"/>
              <a:satMod val="120000"/>
            </a:schemeClr>
          </a:gs>
        </a:gsLst>
        <a:lin ang="5400000" scaled="0"/>
      </a:gradFill>
    </a:fillStyleLst>
    <a:lnStyleLst>
      <a:ln w="12700">
        <a:solidFill>
          <a:schemeClr val="phClr"/>
        </a:solidFill>
        <a:prstDash val="solid"/>
      </a:ln>
      <a:ln w="19050">
        <a:solidFill>
          <a:schemeClr val="phClr"/>
        </a:solidFill>
        <a:prstDash val="solid"/>
      </a:ln>
      <a:ln w="25400">
        <a:solidFill>
          <a:schemeClr val="phClr"/>
        </a:solidFill>
        <a:prstDash val="solid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>
        <a:gsLst>
          <a:gs pos="0">
            <a:schemeClr val="phClr">
              <a:tint val="93000"/>
              <a:shade val="98000"/>
              <a:lumMod val="102000"/>
              <a:satMod val="150000"/>
            </a:schemeClr>
          </a:gs>
          <a:gs pos="50000">
            <a:schemeClr val="phClr">
              <a:tint val="98000"/>
              <a:shade val="90000"/>
              <a:lumMod val="103000"/>
              <a:satMod val="130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/>
      <a:ea typeface="Calibri Light"/>
      <a:cs typeface="Calibri Light"/>
    </a:majorFont>
    <a:minorFont>
      <a:latin typeface="Calibri"/>
      <a:ea typeface="Calibri"/>
      <a:cs typeface="Calibri"/>
    </a:minorFont>
  </a:fontScheme>
  <a:fmtScheme name="ChatGPT">
    <a:fillStyleLst>
      <a:solidFill>
        <a:schemeClr val="phClr"/>
      </a:solidFill>
      <a:gradFill>
        <a:gsLst>
          <a:gs pos="0">
            <a:schemeClr val="phClr">
              <a:tint val="67000"/>
              <a:lumMod val="110000"/>
              <a:satMod val="105000"/>
            </a:schemeClr>
          </a:gs>
          <a:gs pos="50000">
            <a:schemeClr val="phClr">
              <a:tint val="73000"/>
              <a:lumMod val="105000"/>
              <a:satMod val="103000"/>
            </a:schemeClr>
          </a:gs>
          <a:gs pos="100000">
            <a:schemeClr val="phClr">
              <a:tint val="81000"/>
              <a:lumMod val="105000"/>
              <a:satMod val="109000"/>
            </a:schemeClr>
          </a:gs>
        </a:gsLst>
        <a:lin ang="5400000" scaled="0"/>
      </a:gradFill>
      <a:gradFill>
        <a:gsLst>
          <a:gs pos="0">
            <a:schemeClr val="phClr">
              <a:tint val="94000"/>
              <a:lumMod val="102000"/>
              <a:satMod val="103000"/>
            </a:schemeClr>
          </a:gs>
          <a:gs pos="50000">
            <a:schemeClr val="phClr">
              <a:shade val="100000"/>
              <a:lumMod val="100000"/>
              <a:satMod val="110000"/>
            </a:schemeClr>
          </a:gs>
          <a:gs pos="100000">
            <a:schemeClr val="phClr">
              <a:shade val="78000"/>
              <a:lumMod val="99000"/>
              <a:satMod val="120000"/>
            </a:schemeClr>
          </a:gs>
        </a:gsLst>
        <a:lin ang="5400000" scaled="0"/>
      </a:gradFill>
    </a:fillStyleLst>
    <a:lnStyleLst>
      <a:ln w="12700">
        <a:solidFill>
          <a:schemeClr val="phClr"/>
        </a:solidFill>
        <a:prstDash val="solid"/>
      </a:ln>
      <a:ln w="19050">
        <a:solidFill>
          <a:schemeClr val="phClr"/>
        </a:solidFill>
        <a:prstDash val="solid"/>
      </a:ln>
      <a:ln w="25400">
        <a:solidFill>
          <a:schemeClr val="phClr"/>
        </a:solidFill>
        <a:prstDash val="solid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>
        <a:gsLst>
          <a:gs pos="0">
            <a:schemeClr val="phClr">
              <a:tint val="93000"/>
              <a:shade val="98000"/>
              <a:lumMod val="102000"/>
              <a:satMod val="150000"/>
            </a:schemeClr>
          </a:gs>
          <a:gs pos="50000">
            <a:schemeClr val="phClr">
              <a:tint val="98000"/>
              <a:shade val="90000"/>
              <a:lumMod val="103000"/>
              <a:satMod val="130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/>
      <a:ea typeface="Calibri Light"/>
      <a:cs typeface="Calibri Light"/>
    </a:majorFont>
    <a:minorFont>
      <a:latin typeface="Calibri"/>
      <a:ea typeface="Calibri"/>
      <a:cs typeface="Calibri"/>
    </a:minorFont>
  </a:fontScheme>
  <a:fmtScheme name="ChatGPT">
    <a:fillStyleLst>
      <a:solidFill>
        <a:schemeClr val="phClr"/>
      </a:solidFill>
      <a:gradFill>
        <a:gsLst>
          <a:gs pos="0">
            <a:schemeClr val="phClr">
              <a:tint val="67000"/>
              <a:lumMod val="110000"/>
              <a:satMod val="105000"/>
            </a:schemeClr>
          </a:gs>
          <a:gs pos="50000">
            <a:schemeClr val="phClr">
              <a:tint val="73000"/>
              <a:lumMod val="105000"/>
              <a:satMod val="103000"/>
            </a:schemeClr>
          </a:gs>
          <a:gs pos="100000">
            <a:schemeClr val="phClr">
              <a:tint val="81000"/>
              <a:lumMod val="105000"/>
              <a:satMod val="109000"/>
            </a:schemeClr>
          </a:gs>
        </a:gsLst>
        <a:lin ang="5400000" scaled="0"/>
      </a:gradFill>
      <a:gradFill>
        <a:gsLst>
          <a:gs pos="0">
            <a:schemeClr val="phClr">
              <a:tint val="94000"/>
              <a:lumMod val="102000"/>
              <a:satMod val="103000"/>
            </a:schemeClr>
          </a:gs>
          <a:gs pos="50000">
            <a:schemeClr val="phClr">
              <a:shade val="100000"/>
              <a:lumMod val="100000"/>
              <a:satMod val="110000"/>
            </a:schemeClr>
          </a:gs>
          <a:gs pos="100000">
            <a:schemeClr val="phClr">
              <a:shade val="78000"/>
              <a:lumMod val="99000"/>
              <a:satMod val="120000"/>
            </a:schemeClr>
          </a:gs>
        </a:gsLst>
        <a:lin ang="5400000" scaled="0"/>
      </a:gradFill>
    </a:fillStyleLst>
    <a:lnStyleLst>
      <a:ln w="12700">
        <a:solidFill>
          <a:schemeClr val="phClr"/>
        </a:solidFill>
        <a:prstDash val="solid"/>
      </a:ln>
      <a:ln w="19050">
        <a:solidFill>
          <a:schemeClr val="phClr"/>
        </a:solidFill>
        <a:prstDash val="solid"/>
      </a:ln>
      <a:ln w="25400">
        <a:solidFill>
          <a:schemeClr val="phClr"/>
        </a:solidFill>
        <a:prstDash val="solid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>
        <a:gsLst>
          <a:gs pos="0">
            <a:schemeClr val="phClr">
              <a:tint val="93000"/>
              <a:shade val="98000"/>
              <a:lumMod val="102000"/>
              <a:satMod val="150000"/>
            </a:schemeClr>
          </a:gs>
          <a:gs pos="50000">
            <a:schemeClr val="phClr">
              <a:tint val="98000"/>
              <a:shade val="90000"/>
              <a:lumMod val="103000"/>
              <a:satMod val="130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/>
      <a:ea typeface="Calibri Light"/>
      <a:cs typeface="Calibri Light"/>
    </a:majorFont>
    <a:minorFont>
      <a:latin typeface="Calibri"/>
      <a:ea typeface="Calibri"/>
      <a:cs typeface="Calibri"/>
    </a:minorFont>
  </a:fontScheme>
  <a:fmtScheme name="ChatGPT">
    <a:fillStyleLst>
      <a:solidFill>
        <a:schemeClr val="phClr"/>
      </a:solidFill>
      <a:gradFill>
        <a:gsLst>
          <a:gs pos="0">
            <a:schemeClr val="phClr">
              <a:tint val="67000"/>
              <a:lumMod val="110000"/>
              <a:satMod val="105000"/>
            </a:schemeClr>
          </a:gs>
          <a:gs pos="50000">
            <a:schemeClr val="phClr">
              <a:tint val="73000"/>
              <a:lumMod val="105000"/>
              <a:satMod val="103000"/>
            </a:schemeClr>
          </a:gs>
          <a:gs pos="100000">
            <a:schemeClr val="phClr">
              <a:tint val="81000"/>
              <a:lumMod val="105000"/>
              <a:satMod val="109000"/>
            </a:schemeClr>
          </a:gs>
        </a:gsLst>
        <a:lin ang="5400000" scaled="0"/>
      </a:gradFill>
      <a:gradFill>
        <a:gsLst>
          <a:gs pos="0">
            <a:schemeClr val="phClr">
              <a:tint val="94000"/>
              <a:lumMod val="102000"/>
              <a:satMod val="103000"/>
            </a:schemeClr>
          </a:gs>
          <a:gs pos="50000">
            <a:schemeClr val="phClr">
              <a:shade val="100000"/>
              <a:lumMod val="100000"/>
              <a:satMod val="110000"/>
            </a:schemeClr>
          </a:gs>
          <a:gs pos="100000">
            <a:schemeClr val="phClr">
              <a:shade val="78000"/>
              <a:lumMod val="99000"/>
              <a:satMod val="120000"/>
            </a:schemeClr>
          </a:gs>
        </a:gsLst>
        <a:lin ang="5400000" scaled="0"/>
      </a:gradFill>
    </a:fillStyleLst>
    <a:lnStyleLst>
      <a:ln w="12700">
        <a:solidFill>
          <a:schemeClr val="phClr"/>
        </a:solidFill>
        <a:prstDash val="solid"/>
      </a:ln>
      <a:ln w="19050">
        <a:solidFill>
          <a:schemeClr val="phClr"/>
        </a:solidFill>
        <a:prstDash val="solid"/>
      </a:ln>
      <a:ln w="25400">
        <a:solidFill>
          <a:schemeClr val="phClr"/>
        </a:solidFill>
        <a:prstDash val="solid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>
        <a:gsLst>
          <a:gs pos="0">
            <a:schemeClr val="phClr">
              <a:tint val="93000"/>
              <a:shade val="98000"/>
              <a:lumMod val="102000"/>
              <a:satMod val="150000"/>
            </a:schemeClr>
          </a:gs>
          <a:gs pos="50000">
            <a:schemeClr val="phClr">
              <a:tint val="98000"/>
              <a:shade val="90000"/>
              <a:lumMod val="103000"/>
              <a:satMod val="130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49</TotalTime>
  <Words>602</Words>
  <Application>Microsoft Office PowerPoint</Application>
  <PresentationFormat>Custom</PresentationFormat>
  <Paragraphs>39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Trebuchet MS</vt:lpstr>
      <vt:lpstr>Wingdings 3</vt:lpstr>
      <vt:lpstr>Facet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USER</dc:creator>
  <cp:keywords/>
  <dc:description>generated using python-pptx</dc:description>
  <cp:lastModifiedBy>USER</cp:lastModifiedBy>
  <cp:revision>8</cp:revision>
  <dcterms:created xsi:type="dcterms:W3CDTF">2013-01-27T09:14:16Z</dcterms:created>
  <dcterms:modified xsi:type="dcterms:W3CDTF">2026-10-06T05:20:52Z</dcterms:modified>
  <cp:category/>
</cp:coreProperties>
</file>